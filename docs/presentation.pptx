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3987" autoAdjust="0"/>
  </p:normalViewPr>
  <p:slideViewPr>
    <p:cSldViewPr snapToGrid="0" snapToObjects="1">
      <p:cViewPr varScale="1">
        <p:scale>
          <a:sx n="63" d="100"/>
          <a:sy n="63" d="100"/>
        </p:scale>
        <p:origin x="77" y="3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6296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Rashi Sharma, Sabila Nigar and Preeti Kumari. Our project is the AI Fashion Color Fit Matcher and Virtual Stylist. In simple words: you give it a photo, and it tells you which colors and outfits suit your skin tone. The three dots stand for warm, neutral and cool skin tones.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choose clothes by guesswork, and professional stylists are expensive. Our app automates this advice. From one photo it finds the face, classifies skin tone, recommends colors and outfits, and lets the user chat with an AI stylist. Every recommendation can be explained in plain English.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goals we set. Detect the face and skin tone, recommend colors and outfits, let users preview a color on their own photo, add a fashion-only chatbot, personalize with occasion, season, body shape and a style quiz, and deliver it as a polished, tested web app. It is a styling aid, not a medical tool.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three layers. The user interface is 13 Streamlit pages. The logic layer is small Python modules in the src folder, one job each. The data layer is JSON and CSV files. The only outside service is the Groq API for the chatbot. Pages hold no heavy logic, and every function returns an error dictionary so the app never crashes on bad input.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pipeline. First the photo is validated. Then a Haar cascade finds the face. We average the HSV values of the face region, apply simple rules to get warm, neutral or cool, and from that we get recommended colors. The same skin tone feeds the outfit scorer and the AI stylist context.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Skin tone uses simple, explainable rules. The face pixels are converted from BGR to HSV and averaged. If hue is 20 or less and saturation is above 60, it is warm. Hue 20 or less with saturation 60 or below is neutral. Higher hue is cool. We used HSV because it separates color from brightness, so lighting matters less than with raw RGB. The trade-off is lower robustness, which we list under limitations.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recommender picks outfits from a 150-outfit database. It first tries an exact match on color, occasion and season, then relaxes the season, then matches on color alone. The final score is 40 percent skin match, 30 percent color harmony, 30 percent occasion fit. Dominant clothing colors come from K-Means clustering with k equal to 5. Because every number comes from a visible rule, the Why this outfit explanation is exact.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core analysis, the app has a virtual try-on that blends a color over the estimated torso, a Groq-powered chatbot that knows your analysis, a style quiz with three personas, a Mirror Mode page for a smart-mirror feel, a dashboard of usage analytics, and a downloadable HTML style report.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Python. Streamlit gives a full web app without a separate front end. OpenCV runs on a normal CPU and its Haar detector needs no training. Scikit-learn gives reliable K-Means. Groq gives fast chatbot replies with a free tier. Pytest runs our tests with one command.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has three levels. </a:t>
            </a:r>
            <a:r>
              <a:rPr lang="en-IN"/>
              <a:t>Fourteen </a:t>
            </a:r>
            <a:r>
              <a:rPr lang="en-IN" dirty="0"/>
              <a:t>automated </a:t>
            </a:r>
            <a:r>
              <a:rPr lang="en-IN" dirty="0" err="1"/>
              <a:t>pytest</a:t>
            </a:r>
            <a:r>
              <a:rPr lang="en-IN" dirty="0"/>
              <a:t> tests </a:t>
            </a:r>
            <a:r>
              <a:rPr lang="en-US" dirty="0"/>
              <a:t>check skin tone classes, the error dictionary, the scoring formula, color math and harmony labels. A manual full-flow test covers one complete user journey. Quality checks include a UI audit of 13 screens, mobile checks and a custom code audit tool. Testing found one real bug: the compatibility check tested for None but the function returned an error dictionary. We fixed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limits: skin tone detection depends on lighting and uses fixed thresholds. The outfit database is 150 synthetic outfits, not real products. Accuracy has not been benchmarked on labeled photos. The try-on is a flat color tint. For the future: a better model with fairness checks, MediaPipe pose for body shape, clothing segmentation, live video, a real product catalog, and user accounts with a database.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will show the app live. Follow this order: take the style quiz, analyze my look, view recommendations, try on a color, ask the stylist a question, then open the dashboard. Conclusion: a useful stylist can be built from face detection, color-space analysis, clustering, transparent rules and a language model with clear boundaries.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7"/>
        </a:solidFill>
        <a:effectLst/>
      </p:bgPr>
    </p:bg>
    <p:spTree>
      <p:nvGrpSpPr>
        <p:cNvPr id="1" name=""/>
        <p:cNvGrpSpPr/>
        <p:nvPr/>
      </p:nvGrpSpPr>
      <p:grpSpPr>
        <a:xfrm>
          <a:off x="0" y="0"/>
          <a:ext cx="0" cy="0"/>
          <a:chOff x="0" y="0"/>
          <a:chExt cx="0" cy="0"/>
        </a:xfrm>
      </p:grpSpPr>
      <p:sp>
        <p:nvSpPr>
          <p:cNvPr id="2" name="Text 0"/>
          <p:cNvSpPr txBox="1"/>
          <p:nvPr/>
        </p:nvSpPr>
        <p:spPr>
          <a:xfrm>
            <a:off x="548640" y="1097280"/>
            <a:ext cx="8046720" cy="1463040"/>
          </a:xfrm>
          <a:prstGeom prst="rect">
            <a:avLst/>
          </a:prstGeom>
          <a:noFill/>
          <a:ln/>
        </p:spPr>
        <p:txBody>
          <a:bodyPr wrap="square" lIns="0" tIns="0" rIns="0" bIns="0" rtlCol="0" anchor="ctr"/>
          <a:lstStyle/>
          <a:p>
            <a:pPr marL="0" indent="0">
              <a:buNone/>
            </a:pPr>
            <a:r>
              <a:rPr lang="en-US" sz="4000" b="1" dirty="0">
                <a:solidFill>
                  <a:srgbClr val="FFD1DC"/>
                </a:solidFill>
                <a:latin typeface="Cambria" pitchFamily="34" charset="0"/>
                <a:ea typeface="Cambria" pitchFamily="34" charset="-122"/>
                <a:cs typeface="Cambria" pitchFamily="34" charset="-120"/>
              </a:rPr>
              <a:t>AI Fashion Color Fit Matcher &amp; Virtual Stylist</a:t>
            </a:r>
            <a:endParaRPr lang="en-US" sz="4000" dirty="0"/>
          </a:p>
        </p:txBody>
      </p:sp>
      <p:sp>
        <p:nvSpPr>
          <p:cNvPr id="3" name="Text 1"/>
          <p:cNvSpPr txBox="1"/>
          <p:nvPr/>
        </p:nvSpPr>
        <p:spPr>
          <a:xfrm>
            <a:off x="548640" y="2651760"/>
            <a:ext cx="8046720" cy="548640"/>
          </a:xfrm>
          <a:prstGeom prst="rect">
            <a:avLst/>
          </a:prstGeom>
          <a:noFill/>
          <a:ln/>
        </p:spPr>
        <p:txBody>
          <a:bodyPr wrap="square" lIns="0" tIns="0" rIns="0" bIns="0" rtlCol="0" anchor="ctr"/>
          <a:lstStyle/>
          <a:p>
            <a:pPr marL="0" indent="0">
              <a:buNone/>
            </a:pPr>
            <a:r>
              <a:rPr lang="en-US" sz="1800" dirty="0">
                <a:solidFill>
                  <a:srgbClr val="F3E9EC"/>
                </a:solidFill>
              </a:rPr>
              <a:t>Skin tone analysis, outfit recommendations, virtual try-on and an AI stylist</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0" y="3291840"/>
          <a:ext cx="5852160" cy="1219200"/>
        </p:xfrm>
        <a:graphic>
          <a:graphicData uri="http://schemas.openxmlformats.org/drawingml/2006/table">
            <a:tbl>
              <a:tblPr/>
              <a:tblGrid>
                <a:gridCol w="29260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01752">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D96C8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ROLL NUMBER</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D96C8C"/>
                    </a:solidFill>
                  </a:tcPr>
                </a:tc>
                <a:extLst>
                  <a:ext uri="{0D108BD9-81ED-4DB2-BD59-A6C34878D82A}">
                    <a16:rowId xmlns:a16="http://schemas.microsoft.com/office/drawing/2014/main" val="10000"/>
                  </a:ext>
                </a:extLst>
              </a:tr>
              <a:tr h="301752">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RASHI SHARMA</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23CS2011087</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extLst>
                  <a:ext uri="{0D108BD9-81ED-4DB2-BD59-A6C34878D82A}">
                    <a16:rowId xmlns:a16="http://schemas.microsoft.com/office/drawing/2014/main" val="10001"/>
                  </a:ext>
                </a:extLst>
              </a:tr>
              <a:tr h="301752">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SABILA NIGAR</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23CS2011093</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extLst>
                  <a:ext uri="{0D108BD9-81ED-4DB2-BD59-A6C34878D82A}">
                    <a16:rowId xmlns:a16="http://schemas.microsoft.com/office/drawing/2014/main" val="10002"/>
                  </a:ext>
                </a:extLst>
              </a:tr>
              <a:tr h="301752">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PREETI KUMARI</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23CS2011076</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3474720"/>
            <a:ext cx="365760" cy="365760"/>
          </a:xfrm>
          <a:prstGeom prst="ellipse">
            <a:avLst/>
          </a:prstGeom>
          <a:solidFill>
            <a:srgbClr val="D96C8C"/>
          </a:solidFill>
          <a:ln w="12700">
            <a:solidFill>
              <a:srgbClr val="D96C8C"/>
            </a:solidFill>
            <a:prstDash val="solid"/>
          </a:ln>
        </p:spPr>
      </p:sp>
      <p:sp>
        <p:nvSpPr>
          <p:cNvPr id="6" name="Shape 3"/>
          <p:cNvSpPr/>
          <p:nvPr/>
        </p:nvSpPr>
        <p:spPr>
          <a:xfrm>
            <a:off x="1051560" y="3474720"/>
            <a:ext cx="365760" cy="365760"/>
          </a:xfrm>
          <a:prstGeom prst="ellipse">
            <a:avLst/>
          </a:prstGeom>
          <a:solidFill>
            <a:srgbClr val="FFD1DC"/>
          </a:solidFill>
          <a:ln w="12700">
            <a:solidFill>
              <a:srgbClr val="FFD1DC"/>
            </a:solidFill>
            <a:prstDash val="solid"/>
          </a:ln>
        </p:spPr>
      </p:sp>
      <p:sp>
        <p:nvSpPr>
          <p:cNvPr id="7" name="Shape 4"/>
          <p:cNvSpPr/>
          <p:nvPr/>
        </p:nvSpPr>
        <p:spPr>
          <a:xfrm>
            <a:off x="1554480" y="3474720"/>
            <a:ext cx="365760" cy="365760"/>
          </a:xfrm>
          <a:prstGeom prst="ellipse">
            <a:avLst/>
          </a:prstGeom>
          <a:solidFill>
            <a:srgbClr val="FFB6C1"/>
          </a:solidFill>
          <a:ln w="12700">
            <a:solidFill>
              <a:srgbClr val="FFB6C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7"/>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FFD1DC"/>
                </a:solidFill>
                <a:latin typeface="Cambria" pitchFamily="34" charset="0"/>
                <a:ea typeface="Cambria" pitchFamily="34" charset="-122"/>
                <a:cs typeface="Cambria" pitchFamily="34" charset="-120"/>
              </a:rPr>
              <a:t>The problem and our solution</a:t>
            </a:r>
            <a:endParaRPr lang="en-US" sz="3400" dirty="0"/>
          </a:p>
        </p:txBody>
      </p:sp>
      <p:sp>
        <p:nvSpPr>
          <p:cNvPr id="4" name="Shape 1"/>
          <p:cNvSpPr/>
          <p:nvPr/>
        </p:nvSpPr>
        <p:spPr>
          <a:xfrm>
            <a:off x="457200" y="1280160"/>
            <a:ext cx="3931920" cy="3200400"/>
          </a:xfrm>
          <a:prstGeom prst="roundRect">
            <a:avLst>
              <a:gd name="adj" fmla="val 3429"/>
            </a:avLst>
          </a:prstGeom>
          <a:solidFill>
            <a:srgbClr val="1C1F26"/>
          </a:solidFill>
          <a:ln w="12700">
            <a:solidFill>
              <a:srgbClr val="1C1F26"/>
            </a:solidFill>
            <a:prstDash val="solid"/>
          </a:ln>
        </p:spPr>
      </p:sp>
      <p:sp>
        <p:nvSpPr>
          <p:cNvPr id="5" name="Text 2"/>
          <p:cNvSpPr txBox="1"/>
          <p:nvPr/>
        </p:nvSpPr>
        <p:spPr>
          <a:xfrm>
            <a:off x="640080" y="1417320"/>
            <a:ext cx="356616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The problem</a:t>
            </a:r>
            <a:endParaRPr lang="en-US" sz="1800" dirty="0"/>
          </a:p>
        </p:txBody>
      </p:sp>
      <p:sp>
        <p:nvSpPr>
          <p:cNvPr id="6" name="Text 3"/>
          <p:cNvSpPr txBox="1"/>
          <p:nvPr/>
        </p:nvSpPr>
        <p:spPr>
          <a:xfrm>
            <a:off x="640080" y="1920240"/>
            <a:ext cx="3566160" cy="2423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Choosing colors that suit your skin is guesswork</a:t>
            </a:r>
            <a:endParaRPr lang="en-US" sz="1400" dirty="0"/>
          </a:p>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Professional stylists are costly and not always available</a:t>
            </a:r>
            <a:endParaRPr lang="en-US" sz="1400" dirty="0"/>
          </a:p>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Online advice is generic, not personal</a:t>
            </a:r>
            <a:endParaRPr lang="en-US" sz="1400" dirty="0"/>
          </a:p>
        </p:txBody>
      </p:sp>
      <p:sp>
        <p:nvSpPr>
          <p:cNvPr id="7" name="Shape 4"/>
          <p:cNvSpPr/>
          <p:nvPr/>
        </p:nvSpPr>
        <p:spPr>
          <a:xfrm>
            <a:off x="4754880" y="1280160"/>
            <a:ext cx="3931920" cy="3200400"/>
          </a:xfrm>
          <a:prstGeom prst="roundRect">
            <a:avLst>
              <a:gd name="adj" fmla="val 3429"/>
            </a:avLst>
          </a:prstGeom>
          <a:solidFill>
            <a:srgbClr val="1C1F26"/>
          </a:solidFill>
          <a:ln w="12700">
            <a:solidFill>
              <a:srgbClr val="1C1F26"/>
            </a:solidFill>
            <a:prstDash val="solid"/>
          </a:ln>
        </p:spPr>
      </p:sp>
      <p:sp>
        <p:nvSpPr>
          <p:cNvPr id="8" name="Text 5"/>
          <p:cNvSpPr txBox="1"/>
          <p:nvPr/>
        </p:nvSpPr>
        <p:spPr>
          <a:xfrm>
            <a:off x="4937760" y="1417320"/>
            <a:ext cx="356616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Our solution</a:t>
            </a:r>
            <a:endParaRPr lang="en-US" sz="1800" dirty="0"/>
          </a:p>
        </p:txBody>
      </p:sp>
      <p:sp>
        <p:nvSpPr>
          <p:cNvPr id="9" name="Text 6"/>
          <p:cNvSpPr txBox="1"/>
          <p:nvPr/>
        </p:nvSpPr>
        <p:spPr>
          <a:xfrm>
            <a:off x="4937760" y="1920240"/>
            <a:ext cx="3566160" cy="2423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One photo in, personal advice out</a:t>
            </a:r>
            <a:endParaRPr lang="en-US" sz="1400" dirty="0"/>
          </a:p>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Skin tone, colors, full outfits, color preview</a:t>
            </a:r>
            <a:endParaRPr lang="en-US" sz="1400" dirty="0"/>
          </a:p>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AI stylist chatbot for follow-up questions</a:t>
            </a:r>
            <a:endParaRPr lang="en-US" sz="1400" dirty="0"/>
          </a:p>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Explainable: every score has a visible rule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7"/>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FFD1DC"/>
                </a:solidFill>
                <a:latin typeface="Cambria" pitchFamily="34" charset="0"/>
                <a:ea typeface="Cambria" pitchFamily="34" charset="-122"/>
                <a:cs typeface="Cambria" pitchFamily="34" charset="-120"/>
              </a:rPr>
              <a:t>Project objectives</a:t>
            </a:r>
            <a:endParaRPr lang="en-US" sz="3400" dirty="0"/>
          </a:p>
        </p:txBody>
      </p:sp>
      <p:sp>
        <p:nvSpPr>
          <p:cNvPr id="4" name="Shape 1"/>
          <p:cNvSpPr/>
          <p:nvPr/>
        </p:nvSpPr>
        <p:spPr>
          <a:xfrm>
            <a:off x="457200" y="1371600"/>
            <a:ext cx="1920240" cy="3017520"/>
          </a:xfrm>
          <a:prstGeom prst="roundRect">
            <a:avLst>
              <a:gd name="adj" fmla="val 5714"/>
            </a:avLst>
          </a:prstGeom>
          <a:solidFill>
            <a:srgbClr val="1C1F26"/>
          </a:solidFill>
          <a:ln w="12700">
            <a:solidFill>
              <a:srgbClr val="1C1F26"/>
            </a:solidFill>
            <a:prstDash val="solid"/>
          </a:ln>
        </p:spPr>
      </p:sp>
      <p:sp>
        <p:nvSpPr>
          <p:cNvPr id="5" name="Text 2"/>
          <p:cNvSpPr txBox="1"/>
          <p:nvPr/>
        </p:nvSpPr>
        <p:spPr>
          <a:xfrm>
            <a:off x="640080" y="1508760"/>
            <a:ext cx="155448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Detect</a:t>
            </a:r>
            <a:endParaRPr lang="en-US" sz="1800" dirty="0"/>
          </a:p>
        </p:txBody>
      </p:sp>
      <p:sp>
        <p:nvSpPr>
          <p:cNvPr id="6" name="Text 3"/>
          <p:cNvSpPr txBox="1"/>
          <p:nvPr/>
        </p:nvSpPr>
        <p:spPr>
          <a:xfrm>
            <a:off x="640080" y="2011680"/>
            <a:ext cx="1554480" cy="224028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Find the face and classify skin tone: warm, neutral or cool</a:t>
            </a:r>
            <a:endParaRPr lang="en-US" sz="1400" dirty="0"/>
          </a:p>
        </p:txBody>
      </p:sp>
      <p:sp>
        <p:nvSpPr>
          <p:cNvPr id="7" name="Shape 4"/>
          <p:cNvSpPr/>
          <p:nvPr/>
        </p:nvSpPr>
        <p:spPr>
          <a:xfrm>
            <a:off x="2560320" y="1371600"/>
            <a:ext cx="1920240" cy="3017520"/>
          </a:xfrm>
          <a:prstGeom prst="roundRect">
            <a:avLst>
              <a:gd name="adj" fmla="val 5714"/>
            </a:avLst>
          </a:prstGeom>
          <a:solidFill>
            <a:srgbClr val="1C1F26"/>
          </a:solidFill>
          <a:ln w="12700">
            <a:solidFill>
              <a:srgbClr val="1C1F26"/>
            </a:solidFill>
            <a:prstDash val="solid"/>
          </a:ln>
        </p:spPr>
      </p:sp>
      <p:sp>
        <p:nvSpPr>
          <p:cNvPr id="8" name="Text 5"/>
          <p:cNvSpPr txBox="1"/>
          <p:nvPr/>
        </p:nvSpPr>
        <p:spPr>
          <a:xfrm>
            <a:off x="2743200" y="1508760"/>
            <a:ext cx="155448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Recommend</a:t>
            </a:r>
            <a:endParaRPr lang="en-US" sz="1800" dirty="0"/>
          </a:p>
        </p:txBody>
      </p:sp>
      <p:sp>
        <p:nvSpPr>
          <p:cNvPr id="9" name="Text 6"/>
          <p:cNvSpPr txBox="1"/>
          <p:nvPr/>
        </p:nvSpPr>
        <p:spPr>
          <a:xfrm>
            <a:off x="2743200" y="2011680"/>
            <a:ext cx="1554480" cy="224028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Suggest colors and ranked outfits by occasion, season and style</a:t>
            </a:r>
            <a:endParaRPr lang="en-US" sz="1400" dirty="0"/>
          </a:p>
        </p:txBody>
      </p:sp>
      <p:sp>
        <p:nvSpPr>
          <p:cNvPr id="10" name="Shape 7"/>
          <p:cNvSpPr/>
          <p:nvPr/>
        </p:nvSpPr>
        <p:spPr>
          <a:xfrm>
            <a:off x="4663440" y="1371600"/>
            <a:ext cx="1920240" cy="3017520"/>
          </a:xfrm>
          <a:prstGeom prst="roundRect">
            <a:avLst>
              <a:gd name="adj" fmla="val 5714"/>
            </a:avLst>
          </a:prstGeom>
          <a:solidFill>
            <a:srgbClr val="1C1F26"/>
          </a:solidFill>
          <a:ln w="12700">
            <a:solidFill>
              <a:srgbClr val="1C1F26"/>
            </a:solidFill>
            <a:prstDash val="solid"/>
          </a:ln>
        </p:spPr>
      </p:sp>
      <p:sp>
        <p:nvSpPr>
          <p:cNvPr id="11" name="Text 8"/>
          <p:cNvSpPr txBox="1"/>
          <p:nvPr/>
        </p:nvSpPr>
        <p:spPr>
          <a:xfrm>
            <a:off x="4846320" y="1508760"/>
            <a:ext cx="155448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Try on</a:t>
            </a:r>
            <a:endParaRPr lang="en-US" sz="1800" dirty="0"/>
          </a:p>
        </p:txBody>
      </p:sp>
      <p:sp>
        <p:nvSpPr>
          <p:cNvPr id="12" name="Text 9"/>
          <p:cNvSpPr txBox="1"/>
          <p:nvPr/>
        </p:nvSpPr>
        <p:spPr>
          <a:xfrm>
            <a:off x="4846320" y="2011680"/>
            <a:ext cx="1554480" cy="224028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Preview a clothing color on your own photo</a:t>
            </a:r>
            <a:endParaRPr lang="en-US" sz="1400" dirty="0"/>
          </a:p>
        </p:txBody>
      </p:sp>
      <p:sp>
        <p:nvSpPr>
          <p:cNvPr id="13" name="Shape 10"/>
          <p:cNvSpPr/>
          <p:nvPr/>
        </p:nvSpPr>
        <p:spPr>
          <a:xfrm>
            <a:off x="6766560" y="1371600"/>
            <a:ext cx="1920240" cy="3017520"/>
          </a:xfrm>
          <a:prstGeom prst="roundRect">
            <a:avLst>
              <a:gd name="adj" fmla="val 5714"/>
            </a:avLst>
          </a:prstGeom>
          <a:solidFill>
            <a:srgbClr val="1C1F26"/>
          </a:solidFill>
          <a:ln w="12700">
            <a:solidFill>
              <a:srgbClr val="1C1F26"/>
            </a:solidFill>
            <a:prstDash val="solid"/>
          </a:ln>
        </p:spPr>
      </p:sp>
      <p:sp>
        <p:nvSpPr>
          <p:cNvPr id="14" name="Text 11"/>
          <p:cNvSpPr txBox="1"/>
          <p:nvPr/>
        </p:nvSpPr>
        <p:spPr>
          <a:xfrm>
            <a:off x="6949440" y="1508760"/>
            <a:ext cx="155448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Converse</a:t>
            </a:r>
            <a:endParaRPr lang="en-US" sz="1800" dirty="0"/>
          </a:p>
        </p:txBody>
      </p:sp>
      <p:sp>
        <p:nvSpPr>
          <p:cNvPr id="15" name="Text 12"/>
          <p:cNvSpPr txBox="1"/>
          <p:nvPr/>
        </p:nvSpPr>
        <p:spPr>
          <a:xfrm>
            <a:off x="6949440" y="2011680"/>
            <a:ext cx="1554480" cy="224028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Context-aware AI stylist that stays on fashion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7"/>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FFD1DC"/>
                </a:solidFill>
                <a:latin typeface="Cambria" pitchFamily="34" charset="0"/>
                <a:ea typeface="Cambria" pitchFamily="34" charset="-122"/>
                <a:cs typeface="Cambria" pitchFamily="34" charset="-120"/>
              </a:rPr>
              <a:t>System architecture</a:t>
            </a:r>
            <a:endParaRPr lang="en-US" sz="3400" dirty="0"/>
          </a:p>
        </p:txBody>
      </p:sp>
      <p:sp>
        <p:nvSpPr>
          <p:cNvPr id="4" name="Shape 1"/>
          <p:cNvSpPr/>
          <p:nvPr/>
        </p:nvSpPr>
        <p:spPr>
          <a:xfrm>
            <a:off x="457200" y="1280160"/>
            <a:ext cx="5486400" cy="1051560"/>
          </a:xfrm>
          <a:prstGeom prst="roundRect">
            <a:avLst>
              <a:gd name="adj" fmla="val 10435"/>
            </a:avLst>
          </a:prstGeom>
          <a:solidFill>
            <a:srgbClr val="1C1F26"/>
          </a:solidFill>
          <a:ln w="12700">
            <a:solidFill>
              <a:srgbClr val="1C1F26"/>
            </a:solidFill>
            <a:prstDash val="solid"/>
          </a:ln>
        </p:spPr>
      </p:sp>
      <p:sp>
        <p:nvSpPr>
          <p:cNvPr id="5" name="Text 2"/>
          <p:cNvSpPr txBox="1"/>
          <p:nvPr/>
        </p:nvSpPr>
        <p:spPr>
          <a:xfrm>
            <a:off x="640080" y="1417320"/>
            <a:ext cx="512064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User interface</a:t>
            </a:r>
            <a:endParaRPr lang="en-US" sz="1800" dirty="0"/>
          </a:p>
        </p:txBody>
      </p:sp>
      <p:sp>
        <p:nvSpPr>
          <p:cNvPr id="6" name="Text 3"/>
          <p:cNvSpPr txBox="1"/>
          <p:nvPr/>
        </p:nvSpPr>
        <p:spPr>
          <a:xfrm>
            <a:off x="640080" y="1920240"/>
            <a:ext cx="5120640" cy="27432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13 Streamlit pages: Analyze, Recommendations, Try-On, Chat, Quiz, Dashboard, Mirror Mode</a:t>
            </a:r>
            <a:endParaRPr lang="en-US" sz="1400" dirty="0"/>
          </a:p>
        </p:txBody>
      </p:sp>
      <p:sp>
        <p:nvSpPr>
          <p:cNvPr id="7" name="Shape 4"/>
          <p:cNvSpPr/>
          <p:nvPr/>
        </p:nvSpPr>
        <p:spPr>
          <a:xfrm>
            <a:off x="457200" y="2468880"/>
            <a:ext cx="5486400" cy="1051560"/>
          </a:xfrm>
          <a:prstGeom prst="roundRect">
            <a:avLst>
              <a:gd name="adj" fmla="val 10435"/>
            </a:avLst>
          </a:prstGeom>
          <a:solidFill>
            <a:srgbClr val="1C1F26"/>
          </a:solidFill>
          <a:ln w="12700">
            <a:solidFill>
              <a:srgbClr val="1C1F26"/>
            </a:solidFill>
            <a:prstDash val="solid"/>
          </a:ln>
        </p:spPr>
      </p:sp>
      <p:sp>
        <p:nvSpPr>
          <p:cNvPr id="8" name="Text 5"/>
          <p:cNvSpPr txBox="1"/>
          <p:nvPr/>
        </p:nvSpPr>
        <p:spPr>
          <a:xfrm>
            <a:off x="640080" y="2606040"/>
            <a:ext cx="512064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Logic layer</a:t>
            </a:r>
            <a:endParaRPr lang="en-US" sz="1800" dirty="0"/>
          </a:p>
        </p:txBody>
      </p:sp>
      <p:sp>
        <p:nvSpPr>
          <p:cNvPr id="9" name="Text 6"/>
          <p:cNvSpPr txBox="1"/>
          <p:nvPr/>
        </p:nvSpPr>
        <p:spPr>
          <a:xfrm>
            <a:off x="640080" y="3108960"/>
            <a:ext cx="5120640" cy="27432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Python modules in src/: skin tone, colors, scoring, chatbot, analytics</a:t>
            </a:r>
            <a:endParaRPr lang="en-US" sz="1400" dirty="0"/>
          </a:p>
        </p:txBody>
      </p:sp>
      <p:sp>
        <p:nvSpPr>
          <p:cNvPr id="10" name="Shape 7"/>
          <p:cNvSpPr/>
          <p:nvPr/>
        </p:nvSpPr>
        <p:spPr>
          <a:xfrm>
            <a:off x="457200" y="3657600"/>
            <a:ext cx="5486400" cy="1051560"/>
          </a:xfrm>
          <a:prstGeom prst="roundRect">
            <a:avLst>
              <a:gd name="adj" fmla="val 10435"/>
            </a:avLst>
          </a:prstGeom>
          <a:solidFill>
            <a:srgbClr val="1C1F26"/>
          </a:solidFill>
          <a:ln w="12700">
            <a:solidFill>
              <a:srgbClr val="1C1F26"/>
            </a:solidFill>
            <a:prstDash val="solid"/>
          </a:ln>
        </p:spPr>
      </p:sp>
      <p:sp>
        <p:nvSpPr>
          <p:cNvPr id="11" name="Text 8"/>
          <p:cNvSpPr txBox="1"/>
          <p:nvPr/>
        </p:nvSpPr>
        <p:spPr>
          <a:xfrm>
            <a:off x="640080" y="3794760"/>
            <a:ext cx="512064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Data layer</a:t>
            </a:r>
            <a:endParaRPr lang="en-US" sz="1800" dirty="0"/>
          </a:p>
        </p:txBody>
      </p:sp>
      <p:sp>
        <p:nvSpPr>
          <p:cNvPr id="12" name="Text 9"/>
          <p:cNvSpPr txBox="1"/>
          <p:nvPr/>
        </p:nvSpPr>
        <p:spPr>
          <a:xfrm>
            <a:off x="640080" y="4297680"/>
            <a:ext cx="5120640" cy="27432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JSON rules and a 150-outfit CSV in data/</a:t>
            </a:r>
            <a:endParaRPr lang="en-US" sz="1400" dirty="0"/>
          </a:p>
        </p:txBody>
      </p:sp>
      <p:sp>
        <p:nvSpPr>
          <p:cNvPr id="13" name="Shape 10"/>
          <p:cNvSpPr/>
          <p:nvPr/>
        </p:nvSpPr>
        <p:spPr>
          <a:xfrm>
            <a:off x="6217920" y="1280160"/>
            <a:ext cx="2468880" cy="3429000"/>
          </a:xfrm>
          <a:prstGeom prst="roundRect">
            <a:avLst>
              <a:gd name="adj" fmla="val 4444"/>
            </a:avLst>
          </a:prstGeom>
          <a:solidFill>
            <a:srgbClr val="1C1F26"/>
          </a:solidFill>
          <a:ln w="12700">
            <a:solidFill>
              <a:srgbClr val="1C1F26"/>
            </a:solidFill>
            <a:prstDash val="solid"/>
          </a:ln>
        </p:spPr>
      </p:sp>
      <p:sp>
        <p:nvSpPr>
          <p:cNvPr id="14" name="Text 11"/>
          <p:cNvSpPr txBox="1"/>
          <p:nvPr/>
        </p:nvSpPr>
        <p:spPr>
          <a:xfrm>
            <a:off x="6400800" y="1417320"/>
            <a:ext cx="210312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Groq API</a:t>
            </a:r>
            <a:endParaRPr lang="en-US" sz="1800" dirty="0"/>
          </a:p>
        </p:txBody>
      </p:sp>
      <p:sp>
        <p:nvSpPr>
          <p:cNvPr id="15" name="Text 12"/>
          <p:cNvSpPr txBox="1"/>
          <p:nvPr/>
        </p:nvSpPr>
        <p:spPr>
          <a:xfrm>
            <a:off x="6400800" y="1920240"/>
            <a:ext cx="2103120" cy="265176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The only external service. Powers the AI stylist chatbot (model openai/gpt-oss-20b).</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7"/>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FFD1DC"/>
                </a:solidFill>
                <a:latin typeface="Cambria" pitchFamily="34" charset="0"/>
                <a:ea typeface="Cambria" pitchFamily="34" charset="-122"/>
                <a:cs typeface="Cambria" pitchFamily="34" charset="-120"/>
              </a:rPr>
              <a:t>From photo to recommendations</a:t>
            </a:r>
            <a:endParaRPr lang="en-US" sz="3400" dirty="0"/>
          </a:p>
        </p:txBody>
      </p:sp>
      <p:sp>
        <p:nvSpPr>
          <p:cNvPr id="4" name="Shape 1"/>
          <p:cNvSpPr/>
          <p:nvPr/>
        </p:nvSpPr>
        <p:spPr>
          <a:xfrm>
            <a:off x="457200" y="1737360"/>
            <a:ext cx="1280160" cy="1554480"/>
          </a:xfrm>
          <a:prstGeom prst="roundRect">
            <a:avLst>
              <a:gd name="adj" fmla="val 8571"/>
            </a:avLst>
          </a:prstGeom>
          <a:solidFill>
            <a:srgbClr val="1C1F26"/>
          </a:solidFill>
          <a:ln w="19050">
            <a:solidFill>
              <a:srgbClr val="D96C8C"/>
            </a:solidFill>
            <a:prstDash val="solid"/>
          </a:ln>
        </p:spPr>
      </p:sp>
      <p:sp>
        <p:nvSpPr>
          <p:cNvPr id="5" name="Text 2"/>
          <p:cNvSpPr txBox="1"/>
          <p:nvPr/>
        </p:nvSpPr>
        <p:spPr>
          <a:xfrm>
            <a:off x="457200" y="1828800"/>
            <a:ext cx="1280160" cy="457200"/>
          </a:xfrm>
          <a:prstGeom prst="rect">
            <a:avLst/>
          </a:prstGeom>
          <a:noFill/>
          <a:ln/>
        </p:spPr>
        <p:txBody>
          <a:bodyPr wrap="square" lIns="0" tIns="0" rIns="0" bIns="0" rtlCol="0" anchor="ctr"/>
          <a:lstStyle/>
          <a:p>
            <a:pPr marL="0" indent="0" algn="ctr">
              <a:buNone/>
            </a:pPr>
            <a:r>
              <a:rPr lang="en-US" sz="2400" b="1" dirty="0">
                <a:solidFill>
                  <a:srgbClr val="D96C8C"/>
                </a:solidFill>
                <a:latin typeface="Cambria" pitchFamily="34" charset="0"/>
                <a:ea typeface="Cambria" pitchFamily="34" charset="-122"/>
                <a:cs typeface="Cambria" pitchFamily="34" charset="-120"/>
              </a:rPr>
              <a:t>1</a:t>
            </a:r>
            <a:endParaRPr lang="en-US" sz="2400" dirty="0"/>
          </a:p>
        </p:txBody>
      </p:sp>
      <p:sp>
        <p:nvSpPr>
          <p:cNvPr id="6" name="Text 3"/>
          <p:cNvSpPr txBox="1"/>
          <p:nvPr/>
        </p:nvSpPr>
        <p:spPr>
          <a:xfrm>
            <a:off x="548640" y="2331720"/>
            <a:ext cx="1097280" cy="822960"/>
          </a:xfrm>
          <a:prstGeom prst="rect">
            <a:avLst/>
          </a:prstGeom>
          <a:noFill/>
          <a:ln/>
        </p:spPr>
        <p:txBody>
          <a:bodyPr wrap="square" lIns="0" tIns="0" rIns="0" bIns="0" rtlCol="0" anchor="t"/>
          <a:lstStyle/>
          <a:p>
            <a:pPr marL="0" indent="0" algn="ctr">
              <a:buNone/>
            </a:pPr>
            <a:r>
              <a:rPr lang="en-US" sz="1400" dirty="0">
                <a:solidFill>
                  <a:srgbClr val="F3E9EC"/>
                </a:solidFill>
              </a:rPr>
              <a:t>Photo</a:t>
            </a:r>
            <a:endParaRPr lang="en-US" sz="1400" dirty="0"/>
          </a:p>
        </p:txBody>
      </p:sp>
      <p:sp>
        <p:nvSpPr>
          <p:cNvPr id="7" name="Shape 4"/>
          <p:cNvSpPr/>
          <p:nvPr/>
        </p:nvSpPr>
        <p:spPr>
          <a:xfrm>
            <a:off x="1828800" y="1737360"/>
            <a:ext cx="1280160" cy="1554480"/>
          </a:xfrm>
          <a:prstGeom prst="roundRect">
            <a:avLst>
              <a:gd name="adj" fmla="val 8571"/>
            </a:avLst>
          </a:prstGeom>
          <a:solidFill>
            <a:srgbClr val="1C1F26"/>
          </a:solidFill>
          <a:ln w="19050">
            <a:solidFill>
              <a:srgbClr val="D96C8C"/>
            </a:solidFill>
            <a:prstDash val="solid"/>
          </a:ln>
        </p:spPr>
      </p:sp>
      <p:sp>
        <p:nvSpPr>
          <p:cNvPr id="8" name="Text 5"/>
          <p:cNvSpPr txBox="1"/>
          <p:nvPr/>
        </p:nvSpPr>
        <p:spPr>
          <a:xfrm>
            <a:off x="1828800" y="1828800"/>
            <a:ext cx="1280160" cy="457200"/>
          </a:xfrm>
          <a:prstGeom prst="rect">
            <a:avLst/>
          </a:prstGeom>
          <a:noFill/>
          <a:ln/>
        </p:spPr>
        <p:txBody>
          <a:bodyPr wrap="square" lIns="0" tIns="0" rIns="0" bIns="0" rtlCol="0" anchor="ctr"/>
          <a:lstStyle/>
          <a:p>
            <a:pPr marL="0" indent="0" algn="ctr">
              <a:buNone/>
            </a:pPr>
            <a:r>
              <a:rPr lang="en-US" sz="2400" b="1" dirty="0">
                <a:solidFill>
                  <a:srgbClr val="D96C8C"/>
                </a:solidFill>
                <a:latin typeface="Cambria" pitchFamily="34" charset="0"/>
                <a:ea typeface="Cambria" pitchFamily="34" charset="-122"/>
                <a:cs typeface="Cambria" pitchFamily="34" charset="-120"/>
              </a:rPr>
              <a:t>2</a:t>
            </a:r>
            <a:endParaRPr lang="en-US" sz="2400" dirty="0"/>
          </a:p>
        </p:txBody>
      </p:sp>
      <p:sp>
        <p:nvSpPr>
          <p:cNvPr id="9" name="Text 6"/>
          <p:cNvSpPr txBox="1"/>
          <p:nvPr/>
        </p:nvSpPr>
        <p:spPr>
          <a:xfrm>
            <a:off x="1920240" y="2331720"/>
            <a:ext cx="1097280" cy="822960"/>
          </a:xfrm>
          <a:prstGeom prst="rect">
            <a:avLst/>
          </a:prstGeom>
          <a:noFill/>
          <a:ln/>
        </p:spPr>
        <p:txBody>
          <a:bodyPr wrap="square" lIns="0" tIns="0" rIns="0" bIns="0" rtlCol="0" anchor="t"/>
          <a:lstStyle/>
          <a:p>
            <a:pPr marL="0" indent="0" algn="ctr">
              <a:buNone/>
            </a:pPr>
            <a:r>
              <a:rPr lang="en-US" sz="1400" dirty="0">
                <a:solidFill>
                  <a:srgbClr val="F3E9EC"/>
                </a:solidFill>
              </a:rPr>
              <a:t>Validate image</a:t>
            </a:r>
            <a:endParaRPr lang="en-US" sz="1400" dirty="0"/>
          </a:p>
        </p:txBody>
      </p:sp>
      <p:sp>
        <p:nvSpPr>
          <p:cNvPr id="10" name="Shape 7"/>
          <p:cNvSpPr/>
          <p:nvPr/>
        </p:nvSpPr>
        <p:spPr>
          <a:xfrm>
            <a:off x="3200400" y="1737360"/>
            <a:ext cx="1280160" cy="1554480"/>
          </a:xfrm>
          <a:prstGeom prst="roundRect">
            <a:avLst>
              <a:gd name="adj" fmla="val 8571"/>
            </a:avLst>
          </a:prstGeom>
          <a:solidFill>
            <a:srgbClr val="1C1F26"/>
          </a:solidFill>
          <a:ln w="19050">
            <a:solidFill>
              <a:srgbClr val="D96C8C"/>
            </a:solidFill>
            <a:prstDash val="solid"/>
          </a:ln>
        </p:spPr>
      </p:sp>
      <p:sp>
        <p:nvSpPr>
          <p:cNvPr id="11" name="Text 8"/>
          <p:cNvSpPr txBox="1"/>
          <p:nvPr/>
        </p:nvSpPr>
        <p:spPr>
          <a:xfrm>
            <a:off x="3200400" y="1828800"/>
            <a:ext cx="1280160" cy="457200"/>
          </a:xfrm>
          <a:prstGeom prst="rect">
            <a:avLst/>
          </a:prstGeom>
          <a:noFill/>
          <a:ln/>
        </p:spPr>
        <p:txBody>
          <a:bodyPr wrap="square" lIns="0" tIns="0" rIns="0" bIns="0" rtlCol="0" anchor="ctr"/>
          <a:lstStyle/>
          <a:p>
            <a:pPr marL="0" indent="0" algn="ctr">
              <a:buNone/>
            </a:pPr>
            <a:r>
              <a:rPr lang="en-US" sz="2400" b="1" dirty="0">
                <a:solidFill>
                  <a:srgbClr val="D96C8C"/>
                </a:solidFill>
                <a:latin typeface="Cambria" pitchFamily="34" charset="0"/>
                <a:ea typeface="Cambria" pitchFamily="34" charset="-122"/>
                <a:cs typeface="Cambria" pitchFamily="34" charset="-120"/>
              </a:rPr>
              <a:t>3</a:t>
            </a:r>
            <a:endParaRPr lang="en-US" sz="2400" dirty="0"/>
          </a:p>
        </p:txBody>
      </p:sp>
      <p:sp>
        <p:nvSpPr>
          <p:cNvPr id="12" name="Text 9"/>
          <p:cNvSpPr txBox="1"/>
          <p:nvPr/>
        </p:nvSpPr>
        <p:spPr>
          <a:xfrm>
            <a:off x="3291840" y="2331720"/>
            <a:ext cx="1097280" cy="822960"/>
          </a:xfrm>
          <a:prstGeom prst="rect">
            <a:avLst/>
          </a:prstGeom>
          <a:noFill/>
          <a:ln/>
        </p:spPr>
        <p:txBody>
          <a:bodyPr wrap="square" lIns="0" tIns="0" rIns="0" bIns="0" rtlCol="0" anchor="t"/>
          <a:lstStyle/>
          <a:p>
            <a:pPr marL="0" indent="0" algn="ctr">
              <a:buNone/>
            </a:pPr>
            <a:r>
              <a:rPr lang="en-US" sz="1400" dirty="0">
                <a:solidFill>
                  <a:srgbClr val="F3E9EC"/>
                </a:solidFill>
              </a:rPr>
              <a:t>Haar face detection</a:t>
            </a:r>
            <a:endParaRPr lang="en-US" sz="1400" dirty="0"/>
          </a:p>
        </p:txBody>
      </p:sp>
      <p:sp>
        <p:nvSpPr>
          <p:cNvPr id="13" name="Shape 10"/>
          <p:cNvSpPr/>
          <p:nvPr/>
        </p:nvSpPr>
        <p:spPr>
          <a:xfrm>
            <a:off x="4572000" y="1737360"/>
            <a:ext cx="1280160" cy="1554480"/>
          </a:xfrm>
          <a:prstGeom prst="roundRect">
            <a:avLst>
              <a:gd name="adj" fmla="val 8571"/>
            </a:avLst>
          </a:prstGeom>
          <a:solidFill>
            <a:srgbClr val="1C1F26"/>
          </a:solidFill>
          <a:ln w="19050">
            <a:solidFill>
              <a:srgbClr val="D96C8C"/>
            </a:solidFill>
            <a:prstDash val="solid"/>
          </a:ln>
        </p:spPr>
      </p:sp>
      <p:sp>
        <p:nvSpPr>
          <p:cNvPr id="14" name="Text 11"/>
          <p:cNvSpPr txBox="1"/>
          <p:nvPr/>
        </p:nvSpPr>
        <p:spPr>
          <a:xfrm>
            <a:off x="4572000" y="1828800"/>
            <a:ext cx="1280160" cy="457200"/>
          </a:xfrm>
          <a:prstGeom prst="rect">
            <a:avLst/>
          </a:prstGeom>
          <a:noFill/>
          <a:ln/>
        </p:spPr>
        <p:txBody>
          <a:bodyPr wrap="square" lIns="0" tIns="0" rIns="0" bIns="0" rtlCol="0" anchor="ctr"/>
          <a:lstStyle/>
          <a:p>
            <a:pPr marL="0" indent="0" algn="ctr">
              <a:buNone/>
            </a:pPr>
            <a:r>
              <a:rPr lang="en-US" sz="2400" b="1" dirty="0">
                <a:solidFill>
                  <a:srgbClr val="D96C8C"/>
                </a:solidFill>
                <a:latin typeface="Cambria" pitchFamily="34" charset="0"/>
                <a:ea typeface="Cambria" pitchFamily="34" charset="-122"/>
                <a:cs typeface="Cambria" pitchFamily="34" charset="-120"/>
              </a:rPr>
              <a:t>4</a:t>
            </a:r>
            <a:endParaRPr lang="en-US" sz="2400" dirty="0"/>
          </a:p>
        </p:txBody>
      </p:sp>
      <p:sp>
        <p:nvSpPr>
          <p:cNvPr id="15" name="Text 12"/>
          <p:cNvSpPr txBox="1"/>
          <p:nvPr/>
        </p:nvSpPr>
        <p:spPr>
          <a:xfrm>
            <a:off x="4663440" y="2331720"/>
            <a:ext cx="1097280" cy="822960"/>
          </a:xfrm>
          <a:prstGeom prst="rect">
            <a:avLst/>
          </a:prstGeom>
          <a:noFill/>
          <a:ln/>
        </p:spPr>
        <p:txBody>
          <a:bodyPr wrap="square" lIns="0" tIns="0" rIns="0" bIns="0" rtlCol="0" anchor="t"/>
          <a:lstStyle/>
          <a:p>
            <a:pPr marL="0" indent="0" algn="ctr">
              <a:buNone/>
            </a:pPr>
            <a:r>
              <a:rPr lang="en-US" sz="1400" dirty="0">
                <a:solidFill>
                  <a:srgbClr val="F3E9EC"/>
                </a:solidFill>
              </a:rPr>
              <a:t>Average HSV of face</a:t>
            </a:r>
            <a:endParaRPr lang="en-US" sz="1400" dirty="0"/>
          </a:p>
        </p:txBody>
      </p:sp>
      <p:sp>
        <p:nvSpPr>
          <p:cNvPr id="16" name="Shape 13"/>
          <p:cNvSpPr/>
          <p:nvPr/>
        </p:nvSpPr>
        <p:spPr>
          <a:xfrm>
            <a:off x="5943600" y="1737360"/>
            <a:ext cx="1280160" cy="1554480"/>
          </a:xfrm>
          <a:prstGeom prst="roundRect">
            <a:avLst>
              <a:gd name="adj" fmla="val 8571"/>
            </a:avLst>
          </a:prstGeom>
          <a:solidFill>
            <a:srgbClr val="1C1F26"/>
          </a:solidFill>
          <a:ln w="19050">
            <a:solidFill>
              <a:srgbClr val="D96C8C"/>
            </a:solidFill>
            <a:prstDash val="solid"/>
          </a:ln>
        </p:spPr>
      </p:sp>
      <p:sp>
        <p:nvSpPr>
          <p:cNvPr id="17" name="Text 14"/>
          <p:cNvSpPr txBox="1"/>
          <p:nvPr/>
        </p:nvSpPr>
        <p:spPr>
          <a:xfrm>
            <a:off x="5943600" y="1828800"/>
            <a:ext cx="1280160" cy="457200"/>
          </a:xfrm>
          <a:prstGeom prst="rect">
            <a:avLst/>
          </a:prstGeom>
          <a:noFill/>
          <a:ln/>
        </p:spPr>
        <p:txBody>
          <a:bodyPr wrap="square" lIns="0" tIns="0" rIns="0" bIns="0" rtlCol="0" anchor="ctr"/>
          <a:lstStyle/>
          <a:p>
            <a:pPr marL="0" indent="0" algn="ctr">
              <a:buNone/>
            </a:pPr>
            <a:r>
              <a:rPr lang="en-US" sz="2400" b="1" dirty="0">
                <a:solidFill>
                  <a:srgbClr val="D96C8C"/>
                </a:solidFill>
                <a:latin typeface="Cambria" pitchFamily="34" charset="0"/>
                <a:ea typeface="Cambria" pitchFamily="34" charset="-122"/>
                <a:cs typeface="Cambria" pitchFamily="34" charset="-120"/>
              </a:rPr>
              <a:t>5</a:t>
            </a:r>
            <a:endParaRPr lang="en-US" sz="2400" dirty="0"/>
          </a:p>
        </p:txBody>
      </p:sp>
      <p:sp>
        <p:nvSpPr>
          <p:cNvPr id="18" name="Text 15"/>
          <p:cNvSpPr txBox="1"/>
          <p:nvPr/>
        </p:nvSpPr>
        <p:spPr>
          <a:xfrm>
            <a:off x="6035040" y="2331720"/>
            <a:ext cx="1097280" cy="822960"/>
          </a:xfrm>
          <a:prstGeom prst="rect">
            <a:avLst/>
          </a:prstGeom>
          <a:noFill/>
          <a:ln/>
        </p:spPr>
        <p:txBody>
          <a:bodyPr wrap="square" lIns="0" tIns="0" rIns="0" bIns="0" rtlCol="0" anchor="t"/>
          <a:lstStyle/>
          <a:p>
            <a:pPr marL="0" indent="0" algn="ctr">
              <a:buNone/>
            </a:pPr>
            <a:r>
              <a:rPr lang="en-US" sz="1400" dirty="0">
                <a:solidFill>
                  <a:srgbClr val="F3E9EC"/>
                </a:solidFill>
              </a:rPr>
              <a:t>Rule-based skin tone</a:t>
            </a:r>
            <a:endParaRPr lang="en-US" sz="1400" dirty="0"/>
          </a:p>
        </p:txBody>
      </p:sp>
      <p:sp>
        <p:nvSpPr>
          <p:cNvPr id="19" name="Shape 16"/>
          <p:cNvSpPr/>
          <p:nvPr/>
        </p:nvSpPr>
        <p:spPr>
          <a:xfrm>
            <a:off x="7315200" y="1737360"/>
            <a:ext cx="1280160" cy="1554480"/>
          </a:xfrm>
          <a:prstGeom prst="roundRect">
            <a:avLst>
              <a:gd name="adj" fmla="val 8571"/>
            </a:avLst>
          </a:prstGeom>
          <a:solidFill>
            <a:srgbClr val="1C1F26"/>
          </a:solidFill>
          <a:ln w="19050">
            <a:solidFill>
              <a:srgbClr val="D96C8C"/>
            </a:solidFill>
            <a:prstDash val="solid"/>
          </a:ln>
        </p:spPr>
      </p:sp>
      <p:sp>
        <p:nvSpPr>
          <p:cNvPr id="20" name="Text 17"/>
          <p:cNvSpPr txBox="1"/>
          <p:nvPr/>
        </p:nvSpPr>
        <p:spPr>
          <a:xfrm>
            <a:off x="7315200" y="1828800"/>
            <a:ext cx="1280160" cy="457200"/>
          </a:xfrm>
          <a:prstGeom prst="rect">
            <a:avLst/>
          </a:prstGeom>
          <a:noFill/>
          <a:ln/>
        </p:spPr>
        <p:txBody>
          <a:bodyPr wrap="square" lIns="0" tIns="0" rIns="0" bIns="0" rtlCol="0" anchor="ctr"/>
          <a:lstStyle/>
          <a:p>
            <a:pPr marL="0" indent="0" algn="ctr">
              <a:buNone/>
            </a:pPr>
            <a:r>
              <a:rPr lang="en-US" sz="2400" b="1" dirty="0">
                <a:solidFill>
                  <a:srgbClr val="D96C8C"/>
                </a:solidFill>
                <a:latin typeface="Cambria" pitchFamily="34" charset="0"/>
                <a:ea typeface="Cambria" pitchFamily="34" charset="-122"/>
                <a:cs typeface="Cambria" pitchFamily="34" charset="-120"/>
              </a:rPr>
              <a:t>6</a:t>
            </a:r>
            <a:endParaRPr lang="en-US" sz="2400" dirty="0"/>
          </a:p>
        </p:txBody>
      </p:sp>
      <p:sp>
        <p:nvSpPr>
          <p:cNvPr id="21" name="Text 18"/>
          <p:cNvSpPr txBox="1"/>
          <p:nvPr/>
        </p:nvSpPr>
        <p:spPr>
          <a:xfrm>
            <a:off x="7406640" y="2331720"/>
            <a:ext cx="1097280" cy="822960"/>
          </a:xfrm>
          <a:prstGeom prst="rect">
            <a:avLst/>
          </a:prstGeom>
          <a:noFill/>
          <a:ln/>
        </p:spPr>
        <p:txBody>
          <a:bodyPr wrap="square" lIns="0" tIns="0" rIns="0" bIns="0" rtlCol="0" anchor="t"/>
          <a:lstStyle/>
          <a:p>
            <a:pPr marL="0" indent="0" algn="ctr">
              <a:buNone/>
            </a:pPr>
            <a:r>
              <a:rPr lang="en-US" sz="1400" dirty="0">
                <a:solidFill>
                  <a:srgbClr val="F3E9EC"/>
                </a:solidFill>
              </a:rPr>
              <a:t>Colors + outfits</a:t>
            </a:r>
            <a:endParaRPr lang="en-US" sz="1400" dirty="0"/>
          </a:p>
        </p:txBody>
      </p:sp>
      <p:sp>
        <p:nvSpPr>
          <p:cNvPr id="22" name="Text 19"/>
          <p:cNvSpPr txBox="1"/>
          <p:nvPr/>
        </p:nvSpPr>
        <p:spPr>
          <a:xfrm>
            <a:off x="457200" y="3840480"/>
            <a:ext cx="8229600" cy="457200"/>
          </a:xfrm>
          <a:prstGeom prst="rect">
            <a:avLst/>
          </a:prstGeom>
          <a:noFill/>
          <a:ln/>
        </p:spPr>
        <p:txBody>
          <a:bodyPr wrap="square" lIns="0" tIns="0" rIns="0" bIns="0" rtlCol="0" anchor="ctr"/>
          <a:lstStyle/>
          <a:p>
            <a:pPr marL="0" indent="0">
              <a:buNone/>
            </a:pPr>
            <a:r>
              <a:rPr lang="en-US" sz="1600" dirty="0">
                <a:solidFill>
                  <a:srgbClr val="FFD1DC"/>
                </a:solidFill>
              </a:rPr>
              <a:t>The same skin tone also feeds the outfit scorer and the AI stylist context.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7"/>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FFD1DC"/>
                </a:solidFill>
                <a:latin typeface="Cambria" pitchFamily="34" charset="0"/>
                <a:ea typeface="Cambria" pitchFamily="34" charset="-122"/>
                <a:cs typeface="Cambria" pitchFamily="34" charset="-120"/>
              </a:rPr>
              <a:t>How skin tone is decided</a:t>
            </a:r>
            <a:endParaRPr lang="en-US" sz="3400" dirty="0"/>
          </a:p>
        </p:txBody>
      </p:sp>
      <p:sp>
        <p:nvSpPr>
          <p:cNvPr id="4" name="Shape 1"/>
          <p:cNvSpPr/>
          <p:nvPr/>
        </p:nvSpPr>
        <p:spPr>
          <a:xfrm>
            <a:off x="457200" y="1280160"/>
            <a:ext cx="2560320" cy="2011680"/>
          </a:xfrm>
          <a:prstGeom prst="roundRect">
            <a:avLst>
              <a:gd name="adj" fmla="val 5455"/>
            </a:avLst>
          </a:prstGeom>
          <a:solidFill>
            <a:srgbClr val="1C1F26"/>
          </a:solidFill>
          <a:ln w="12700">
            <a:solidFill>
              <a:srgbClr val="1C1F26"/>
            </a:solidFill>
            <a:prstDash val="solid"/>
          </a:ln>
        </p:spPr>
      </p:sp>
      <p:sp>
        <p:nvSpPr>
          <p:cNvPr id="5" name="Text 2"/>
          <p:cNvSpPr txBox="1"/>
          <p:nvPr/>
        </p:nvSpPr>
        <p:spPr>
          <a:xfrm>
            <a:off x="640080" y="1417320"/>
            <a:ext cx="219456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Warm</a:t>
            </a:r>
            <a:endParaRPr lang="en-US" sz="1800" dirty="0"/>
          </a:p>
        </p:txBody>
      </p:sp>
      <p:sp>
        <p:nvSpPr>
          <p:cNvPr id="6" name="Text 3"/>
          <p:cNvSpPr txBox="1"/>
          <p:nvPr/>
        </p:nvSpPr>
        <p:spPr>
          <a:xfrm>
            <a:off x="640080" y="1920240"/>
            <a:ext cx="2194560" cy="123444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Hue 20 or less and saturation above 60</a:t>
            </a:r>
            <a:endParaRPr lang="en-US" sz="1400" dirty="0"/>
          </a:p>
        </p:txBody>
      </p:sp>
      <p:sp>
        <p:nvSpPr>
          <p:cNvPr id="7" name="Shape 4"/>
          <p:cNvSpPr/>
          <p:nvPr/>
        </p:nvSpPr>
        <p:spPr>
          <a:xfrm>
            <a:off x="3291840" y="1280160"/>
            <a:ext cx="2560320" cy="2011680"/>
          </a:xfrm>
          <a:prstGeom prst="roundRect">
            <a:avLst>
              <a:gd name="adj" fmla="val 5455"/>
            </a:avLst>
          </a:prstGeom>
          <a:solidFill>
            <a:srgbClr val="1C1F26"/>
          </a:solidFill>
          <a:ln w="12700">
            <a:solidFill>
              <a:srgbClr val="1C1F26"/>
            </a:solidFill>
            <a:prstDash val="solid"/>
          </a:ln>
        </p:spPr>
      </p:sp>
      <p:sp>
        <p:nvSpPr>
          <p:cNvPr id="8" name="Text 5"/>
          <p:cNvSpPr txBox="1"/>
          <p:nvPr/>
        </p:nvSpPr>
        <p:spPr>
          <a:xfrm>
            <a:off x="3474720" y="1417320"/>
            <a:ext cx="219456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Neutral</a:t>
            </a:r>
            <a:endParaRPr lang="en-US" sz="1800" dirty="0"/>
          </a:p>
        </p:txBody>
      </p:sp>
      <p:sp>
        <p:nvSpPr>
          <p:cNvPr id="9" name="Text 6"/>
          <p:cNvSpPr txBox="1"/>
          <p:nvPr/>
        </p:nvSpPr>
        <p:spPr>
          <a:xfrm>
            <a:off x="3474720" y="1920240"/>
            <a:ext cx="2194560" cy="123444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Hue 20 or less and saturation 60 or below</a:t>
            </a:r>
            <a:endParaRPr lang="en-US" sz="1400" dirty="0"/>
          </a:p>
        </p:txBody>
      </p:sp>
      <p:sp>
        <p:nvSpPr>
          <p:cNvPr id="10" name="Shape 7"/>
          <p:cNvSpPr/>
          <p:nvPr/>
        </p:nvSpPr>
        <p:spPr>
          <a:xfrm>
            <a:off x="6126480" y="1280160"/>
            <a:ext cx="2560320" cy="2011680"/>
          </a:xfrm>
          <a:prstGeom prst="roundRect">
            <a:avLst>
              <a:gd name="adj" fmla="val 5455"/>
            </a:avLst>
          </a:prstGeom>
          <a:solidFill>
            <a:srgbClr val="1C1F26"/>
          </a:solidFill>
          <a:ln w="12700">
            <a:solidFill>
              <a:srgbClr val="1C1F26"/>
            </a:solidFill>
            <a:prstDash val="solid"/>
          </a:ln>
        </p:spPr>
      </p:sp>
      <p:sp>
        <p:nvSpPr>
          <p:cNvPr id="11" name="Text 8"/>
          <p:cNvSpPr txBox="1"/>
          <p:nvPr/>
        </p:nvSpPr>
        <p:spPr>
          <a:xfrm>
            <a:off x="6309360" y="1417320"/>
            <a:ext cx="219456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Cool</a:t>
            </a:r>
            <a:endParaRPr lang="en-US" sz="1800" dirty="0"/>
          </a:p>
        </p:txBody>
      </p:sp>
      <p:sp>
        <p:nvSpPr>
          <p:cNvPr id="12" name="Text 9"/>
          <p:cNvSpPr txBox="1"/>
          <p:nvPr/>
        </p:nvSpPr>
        <p:spPr>
          <a:xfrm>
            <a:off x="6309360" y="1920240"/>
            <a:ext cx="2194560" cy="123444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Hue above 20</a:t>
            </a:r>
            <a:endParaRPr lang="en-US" sz="1400" dirty="0"/>
          </a:p>
        </p:txBody>
      </p:sp>
      <p:sp>
        <p:nvSpPr>
          <p:cNvPr id="13" name="Text 10"/>
          <p:cNvSpPr txBox="1"/>
          <p:nvPr/>
        </p:nvSpPr>
        <p:spPr>
          <a:xfrm>
            <a:off x="457200" y="3566160"/>
            <a:ext cx="8229600" cy="1005840"/>
          </a:xfrm>
          <a:prstGeom prst="rect">
            <a:avLst/>
          </a:prstGeom>
          <a:noFill/>
          <a:ln/>
        </p:spPr>
        <p:txBody>
          <a:bodyPr wrap="square" lIns="0" tIns="0" rIns="0" bIns="0" rtlCol="0" anchor="t"/>
          <a:lstStyle/>
          <a:p>
            <a:pPr marL="0" indent="0">
              <a:buNone/>
            </a:pPr>
            <a:r>
              <a:rPr lang="en-US" sz="1600" dirty="0">
                <a:solidFill>
                  <a:srgbClr val="F3E9EC"/>
                </a:solidFill>
              </a:rPr>
              <a:t>Why HSV? It separates color (hue) from brightness, so lighting matters less than in raw RGB. Rules were chosen over a deep network: no labeled dataset or GPU, instant results, fully explainable.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7"/>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FFD1DC"/>
                </a:solidFill>
                <a:latin typeface="Cambria" pitchFamily="34" charset="0"/>
                <a:ea typeface="Cambria" pitchFamily="34" charset="-122"/>
                <a:cs typeface="Cambria" pitchFamily="34" charset="-120"/>
              </a:rPr>
              <a:t>Explainable outfit scoring</a:t>
            </a:r>
            <a:endParaRPr lang="en-US" sz="3400" dirty="0"/>
          </a:p>
        </p:txBody>
      </p:sp>
      <p:sp>
        <p:nvSpPr>
          <p:cNvPr id="4" name="Shape 1"/>
          <p:cNvSpPr/>
          <p:nvPr/>
        </p:nvSpPr>
        <p:spPr>
          <a:xfrm>
            <a:off x="457200" y="1280160"/>
            <a:ext cx="2651760" cy="2011680"/>
          </a:xfrm>
          <a:prstGeom prst="roundRect">
            <a:avLst>
              <a:gd name="adj" fmla="val 5455"/>
            </a:avLst>
          </a:prstGeom>
          <a:solidFill>
            <a:srgbClr val="1C1F26"/>
          </a:solidFill>
          <a:ln w="12700">
            <a:solidFill>
              <a:srgbClr val="1C1F26"/>
            </a:solidFill>
            <a:prstDash val="solid"/>
          </a:ln>
        </p:spPr>
      </p:sp>
      <p:sp>
        <p:nvSpPr>
          <p:cNvPr id="5" name="Text 2"/>
          <p:cNvSpPr txBox="1"/>
          <p:nvPr/>
        </p:nvSpPr>
        <p:spPr>
          <a:xfrm>
            <a:off x="457200" y="1417320"/>
            <a:ext cx="2651760" cy="1097280"/>
          </a:xfrm>
          <a:prstGeom prst="rect">
            <a:avLst/>
          </a:prstGeom>
          <a:noFill/>
          <a:ln/>
        </p:spPr>
        <p:txBody>
          <a:bodyPr wrap="square" lIns="0" tIns="0" rIns="0" bIns="0" rtlCol="0" anchor="ctr"/>
          <a:lstStyle/>
          <a:p>
            <a:pPr marL="0" indent="0" algn="ctr">
              <a:buNone/>
            </a:pPr>
            <a:r>
              <a:rPr lang="en-US" sz="6000" b="1" dirty="0">
                <a:solidFill>
                  <a:srgbClr val="D96C8C"/>
                </a:solidFill>
                <a:latin typeface="Cambria" pitchFamily="34" charset="0"/>
                <a:ea typeface="Cambria" pitchFamily="34" charset="-122"/>
                <a:cs typeface="Cambria" pitchFamily="34" charset="-120"/>
              </a:rPr>
              <a:t>40%</a:t>
            </a:r>
            <a:endParaRPr lang="en-US" sz="6000" dirty="0"/>
          </a:p>
        </p:txBody>
      </p:sp>
      <p:sp>
        <p:nvSpPr>
          <p:cNvPr id="6" name="Text 3"/>
          <p:cNvSpPr txBox="1"/>
          <p:nvPr/>
        </p:nvSpPr>
        <p:spPr>
          <a:xfrm>
            <a:off x="457200" y="2560320"/>
            <a:ext cx="2651760" cy="457200"/>
          </a:xfrm>
          <a:prstGeom prst="rect">
            <a:avLst/>
          </a:prstGeom>
          <a:noFill/>
          <a:ln/>
        </p:spPr>
        <p:txBody>
          <a:bodyPr wrap="square" lIns="0" tIns="0" rIns="0" bIns="0" rtlCol="0" anchor="ctr"/>
          <a:lstStyle/>
          <a:p>
            <a:pPr marL="0" indent="0" algn="ctr">
              <a:buNone/>
            </a:pPr>
            <a:r>
              <a:rPr lang="en-US" sz="1800" dirty="0">
                <a:solidFill>
                  <a:srgbClr val="F3E9EC"/>
                </a:solidFill>
              </a:rPr>
              <a:t>Skin match</a:t>
            </a:r>
            <a:endParaRPr lang="en-US" sz="1800" dirty="0"/>
          </a:p>
        </p:txBody>
      </p:sp>
      <p:sp>
        <p:nvSpPr>
          <p:cNvPr id="7" name="Shape 4"/>
          <p:cNvSpPr/>
          <p:nvPr/>
        </p:nvSpPr>
        <p:spPr>
          <a:xfrm>
            <a:off x="3291840" y="1280160"/>
            <a:ext cx="2651760" cy="2011680"/>
          </a:xfrm>
          <a:prstGeom prst="roundRect">
            <a:avLst>
              <a:gd name="adj" fmla="val 5455"/>
            </a:avLst>
          </a:prstGeom>
          <a:solidFill>
            <a:srgbClr val="1C1F26"/>
          </a:solidFill>
          <a:ln w="12700">
            <a:solidFill>
              <a:srgbClr val="1C1F26"/>
            </a:solidFill>
            <a:prstDash val="solid"/>
          </a:ln>
        </p:spPr>
      </p:sp>
      <p:sp>
        <p:nvSpPr>
          <p:cNvPr id="8" name="Text 5"/>
          <p:cNvSpPr txBox="1"/>
          <p:nvPr/>
        </p:nvSpPr>
        <p:spPr>
          <a:xfrm>
            <a:off x="3291840" y="1417320"/>
            <a:ext cx="2651760" cy="1097280"/>
          </a:xfrm>
          <a:prstGeom prst="rect">
            <a:avLst/>
          </a:prstGeom>
          <a:noFill/>
          <a:ln/>
        </p:spPr>
        <p:txBody>
          <a:bodyPr wrap="square" lIns="0" tIns="0" rIns="0" bIns="0" rtlCol="0" anchor="ctr"/>
          <a:lstStyle/>
          <a:p>
            <a:pPr marL="0" indent="0" algn="ctr">
              <a:buNone/>
            </a:pPr>
            <a:r>
              <a:rPr lang="en-US" sz="6000" b="1" dirty="0">
                <a:solidFill>
                  <a:srgbClr val="D96C8C"/>
                </a:solidFill>
                <a:latin typeface="Cambria" pitchFamily="34" charset="0"/>
                <a:ea typeface="Cambria" pitchFamily="34" charset="-122"/>
                <a:cs typeface="Cambria" pitchFamily="34" charset="-120"/>
              </a:rPr>
              <a:t>30%</a:t>
            </a:r>
            <a:endParaRPr lang="en-US" sz="6000" dirty="0"/>
          </a:p>
        </p:txBody>
      </p:sp>
      <p:sp>
        <p:nvSpPr>
          <p:cNvPr id="9" name="Text 6"/>
          <p:cNvSpPr txBox="1"/>
          <p:nvPr/>
        </p:nvSpPr>
        <p:spPr>
          <a:xfrm>
            <a:off x="3291840" y="2560320"/>
            <a:ext cx="2651760" cy="457200"/>
          </a:xfrm>
          <a:prstGeom prst="rect">
            <a:avLst/>
          </a:prstGeom>
          <a:noFill/>
          <a:ln/>
        </p:spPr>
        <p:txBody>
          <a:bodyPr wrap="square" lIns="0" tIns="0" rIns="0" bIns="0" rtlCol="0" anchor="ctr"/>
          <a:lstStyle/>
          <a:p>
            <a:pPr marL="0" indent="0" algn="ctr">
              <a:buNone/>
            </a:pPr>
            <a:r>
              <a:rPr lang="en-US" sz="1800" dirty="0">
                <a:solidFill>
                  <a:srgbClr val="F3E9EC"/>
                </a:solidFill>
              </a:rPr>
              <a:t>Color harmony</a:t>
            </a:r>
            <a:endParaRPr lang="en-US" sz="1800" dirty="0"/>
          </a:p>
        </p:txBody>
      </p:sp>
      <p:sp>
        <p:nvSpPr>
          <p:cNvPr id="10" name="Shape 7"/>
          <p:cNvSpPr/>
          <p:nvPr/>
        </p:nvSpPr>
        <p:spPr>
          <a:xfrm>
            <a:off x="6126480" y="1280160"/>
            <a:ext cx="2651760" cy="2011680"/>
          </a:xfrm>
          <a:prstGeom prst="roundRect">
            <a:avLst>
              <a:gd name="adj" fmla="val 5455"/>
            </a:avLst>
          </a:prstGeom>
          <a:solidFill>
            <a:srgbClr val="1C1F26"/>
          </a:solidFill>
          <a:ln w="12700">
            <a:solidFill>
              <a:srgbClr val="1C1F26"/>
            </a:solidFill>
            <a:prstDash val="solid"/>
          </a:ln>
        </p:spPr>
      </p:sp>
      <p:sp>
        <p:nvSpPr>
          <p:cNvPr id="11" name="Text 8"/>
          <p:cNvSpPr txBox="1"/>
          <p:nvPr/>
        </p:nvSpPr>
        <p:spPr>
          <a:xfrm>
            <a:off x="6126480" y="1417320"/>
            <a:ext cx="2651760" cy="1097280"/>
          </a:xfrm>
          <a:prstGeom prst="rect">
            <a:avLst/>
          </a:prstGeom>
          <a:noFill/>
          <a:ln/>
        </p:spPr>
        <p:txBody>
          <a:bodyPr wrap="square" lIns="0" tIns="0" rIns="0" bIns="0" rtlCol="0" anchor="ctr"/>
          <a:lstStyle/>
          <a:p>
            <a:pPr marL="0" indent="0" algn="ctr">
              <a:buNone/>
            </a:pPr>
            <a:r>
              <a:rPr lang="en-US" sz="6000" b="1" dirty="0">
                <a:solidFill>
                  <a:srgbClr val="D96C8C"/>
                </a:solidFill>
                <a:latin typeface="Cambria" pitchFamily="34" charset="0"/>
                <a:ea typeface="Cambria" pitchFamily="34" charset="-122"/>
                <a:cs typeface="Cambria" pitchFamily="34" charset="-120"/>
              </a:rPr>
              <a:t>30%</a:t>
            </a:r>
            <a:endParaRPr lang="en-US" sz="6000" dirty="0"/>
          </a:p>
        </p:txBody>
      </p:sp>
      <p:sp>
        <p:nvSpPr>
          <p:cNvPr id="12" name="Text 9"/>
          <p:cNvSpPr txBox="1"/>
          <p:nvPr/>
        </p:nvSpPr>
        <p:spPr>
          <a:xfrm>
            <a:off x="6126480" y="2560320"/>
            <a:ext cx="2651760" cy="457200"/>
          </a:xfrm>
          <a:prstGeom prst="rect">
            <a:avLst/>
          </a:prstGeom>
          <a:noFill/>
          <a:ln/>
        </p:spPr>
        <p:txBody>
          <a:bodyPr wrap="square" lIns="0" tIns="0" rIns="0" bIns="0" rtlCol="0" anchor="ctr"/>
          <a:lstStyle/>
          <a:p>
            <a:pPr marL="0" indent="0" algn="ctr">
              <a:buNone/>
            </a:pPr>
            <a:r>
              <a:rPr lang="en-US" sz="1800" dirty="0">
                <a:solidFill>
                  <a:srgbClr val="F3E9EC"/>
                </a:solidFill>
              </a:rPr>
              <a:t>Occasion fit</a:t>
            </a:r>
            <a:endParaRPr lang="en-US" sz="1800" dirty="0"/>
          </a:p>
        </p:txBody>
      </p:sp>
      <p:sp>
        <p:nvSpPr>
          <p:cNvPr id="13" name="Text 10"/>
          <p:cNvSpPr txBox="1"/>
          <p:nvPr/>
        </p:nvSpPr>
        <p:spPr>
          <a:xfrm>
            <a:off x="457200" y="3657600"/>
            <a:ext cx="8229600" cy="548640"/>
          </a:xfrm>
          <a:prstGeom prst="rect">
            <a:avLst/>
          </a:prstGeom>
          <a:noFill/>
          <a:ln/>
        </p:spPr>
        <p:txBody>
          <a:bodyPr wrap="square" lIns="0" tIns="0" rIns="0" bIns="0" rtlCol="0" anchor="ctr"/>
          <a:lstStyle/>
          <a:p>
            <a:pPr marL="0" indent="0">
              <a:buNone/>
            </a:pPr>
            <a:r>
              <a:rPr lang="en-US" sz="1600" dirty="0">
                <a:solidFill>
                  <a:srgbClr val="FFD1DC"/>
                </a:solidFill>
              </a:rPr>
              <a:t>Dominant colors of clothing photos come from K-Means clustering (k = 5).</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7"/>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FFD1DC"/>
                </a:solidFill>
                <a:latin typeface="Cambria" pitchFamily="34" charset="0"/>
                <a:ea typeface="Cambria" pitchFamily="34" charset="-122"/>
                <a:cs typeface="Cambria" pitchFamily="34" charset="-120"/>
              </a:rPr>
              <a:t>Feature highlights</a:t>
            </a:r>
            <a:endParaRPr lang="en-US" sz="3400" dirty="0"/>
          </a:p>
        </p:txBody>
      </p:sp>
      <p:sp>
        <p:nvSpPr>
          <p:cNvPr id="4" name="Shape 1"/>
          <p:cNvSpPr/>
          <p:nvPr/>
        </p:nvSpPr>
        <p:spPr>
          <a:xfrm>
            <a:off x="457200" y="1280160"/>
            <a:ext cx="2651760" cy="1554480"/>
          </a:xfrm>
          <a:prstGeom prst="roundRect">
            <a:avLst>
              <a:gd name="adj" fmla="val 7059"/>
            </a:avLst>
          </a:prstGeom>
          <a:solidFill>
            <a:srgbClr val="1C1F26"/>
          </a:solidFill>
          <a:ln w="12700">
            <a:solidFill>
              <a:srgbClr val="1C1F26"/>
            </a:solidFill>
            <a:prstDash val="solid"/>
          </a:ln>
        </p:spPr>
      </p:sp>
      <p:sp>
        <p:nvSpPr>
          <p:cNvPr id="5" name="Text 2"/>
          <p:cNvSpPr txBox="1"/>
          <p:nvPr/>
        </p:nvSpPr>
        <p:spPr>
          <a:xfrm>
            <a:off x="640080" y="1417320"/>
            <a:ext cx="2286000" cy="457200"/>
          </a:xfrm>
          <a:prstGeom prst="rect">
            <a:avLst/>
          </a:prstGeom>
          <a:noFill/>
          <a:ln/>
        </p:spPr>
        <p:txBody>
          <a:bodyPr wrap="square" lIns="0" tIns="0" rIns="0" bIns="0" rtlCol="0" anchor="t"/>
          <a:lstStyle/>
          <a:p>
            <a:pPr marL="0" indent="0">
              <a:buNone/>
            </a:pPr>
            <a:r>
              <a:rPr lang="en-US" sz="1600" b="1" dirty="0">
                <a:solidFill>
                  <a:srgbClr val="D96C8C"/>
                </a:solidFill>
                <a:latin typeface="Cambria" pitchFamily="34" charset="0"/>
                <a:ea typeface="Cambria" pitchFamily="34" charset="-122"/>
                <a:cs typeface="Cambria" pitchFamily="34" charset="-120"/>
              </a:rPr>
              <a:t>Virtual try-on</a:t>
            </a:r>
            <a:endParaRPr lang="en-US" sz="1600" dirty="0"/>
          </a:p>
        </p:txBody>
      </p:sp>
      <p:sp>
        <p:nvSpPr>
          <p:cNvPr id="6" name="Text 3"/>
          <p:cNvSpPr txBox="1"/>
          <p:nvPr/>
        </p:nvSpPr>
        <p:spPr>
          <a:xfrm>
            <a:off x="640080" y="1920240"/>
            <a:ext cx="2286000" cy="77724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Blend a color onto your photo</a:t>
            </a:r>
            <a:endParaRPr lang="en-US" sz="1400" dirty="0"/>
          </a:p>
        </p:txBody>
      </p:sp>
      <p:sp>
        <p:nvSpPr>
          <p:cNvPr id="7" name="Shape 4"/>
          <p:cNvSpPr/>
          <p:nvPr/>
        </p:nvSpPr>
        <p:spPr>
          <a:xfrm>
            <a:off x="3291840" y="1280160"/>
            <a:ext cx="2651760" cy="1554480"/>
          </a:xfrm>
          <a:prstGeom prst="roundRect">
            <a:avLst>
              <a:gd name="adj" fmla="val 7059"/>
            </a:avLst>
          </a:prstGeom>
          <a:solidFill>
            <a:srgbClr val="1C1F26"/>
          </a:solidFill>
          <a:ln w="12700">
            <a:solidFill>
              <a:srgbClr val="1C1F26"/>
            </a:solidFill>
            <a:prstDash val="solid"/>
          </a:ln>
        </p:spPr>
      </p:sp>
      <p:sp>
        <p:nvSpPr>
          <p:cNvPr id="8" name="Text 5"/>
          <p:cNvSpPr txBox="1"/>
          <p:nvPr/>
        </p:nvSpPr>
        <p:spPr>
          <a:xfrm>
            <a:off x="3474720" y="1417320"/>
            <a:ext cx="2286000" cy="457200"/>
          </a:xfrm>
          <a:prstGeom prst="rect">
            <a:avLst/>
          </a:prstGeom>
          <a:noFill/>
          <a:ln/>
        </p:spPr>
        <p:txBody>
          <a:bodyPr wrap="square" lIns="0" tIns="0" rIns="0" bIns="0" rtlCol="0" anchor="t"/>
          <a:lstStyle/>
          <a:p>
            <a:pPr marL="0" indent="0">
              <a:buNone/>
            </a:pPr>
            <a:r>
              <a:rPr lang="en-US" sz="1600" b="1" dirty="0">
                <a:solidFill>
                  <a:srgbClr val="D96C8C"/>
                </a:solidFill>
                <a:latin typeface="Cambria" pitchFamily="34" charset="0"/>
                <a:ea typeface="Cambria" pitchFamily="34" charset="-122"/>
                <a:cs typeface="Cambria" pitchFamily="34" charset="-120"/>
              </a:rPr>
              <a:t>AI stylist chat</a:t>
            </a:r>
            <a:endParaRPr lang="en-US" sz="1600" dirty="0"/>
          </a:p>
        </p:txBody>
      </p:sp>
      <p:sp>
        <p:nvSpPr>
          <p:cNvPr id="9" name="Text 6"/>
          <p:cNvSpPr txBox="1"/>
          <p:nvPr/>
        </p:nvSpPr>
        <p:spPr>
          <a:xfrm>
            <a:off x="3474720" y="1920240"/>
            <a:ext cx="2286000" cy="77724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Knows your skin tone and occasion</a:t>
            </a:r>
            <a:endParaRPr lang="en-US" sz="1400" dirty="0"/>
          </a:p>
        </p:txBody>
      </p:sp>
      <p:sp>
        <p:nvSpPr>
          <p:cNvPr id="10" name="Shape 7"/>
          <p:cNvSpPr/>
          <p:nvPr/>
        </p:nvSpPr>
        <p:spPr>
          <a:xfrm>
            <a:off x="6126480" y="1280160"/>
            <a:ext cx="2651760" cy="1554480"/>
          </a:xfrm>
          <a:prstGeom prst="roundRect">
            <a:avLst>
              <a:gd name="adj" fmla="val 7059"/>
            </a:avLst>
          </a:prstGeom>
          <a:solidFill>
            <a:srgbClr val="1C1F26"/>
          </a:solidFill>
          <a:ln w="12700">
            <a:solidFill>
              <a:srgbClr val="1C1F26"/>
            </a:solidFill>
            <a:prstDash val="solid"/>
          </a:ln>
        </p:spPr>
      </p:sp>
      <p:sp>
        <p:nvSpPr>
          <p:cNvPr id="11" name="Text 8"/>
          <p:cNvSpPr txBox="1"/>
          <p:nvPr/>
        </p:nvSpPr>
        <p:spPr>
          <a:xfrm>
            <a:off x="6309360" y="1417320"/>
            <a:ext cx="2286000" cy="457200"/>
          </a:xfrm>
          <a:prstGeom prst="rect">
            <a:avLst/>
          </a:prstGeom>
          <a:noFill/>
          <a:ln/>
        </p:spPr>
        <p:txBody>
          <a:bodyPr wrap="square" lIns="0" tIns="0" rIns="0" bIns="0" rtlCol="0" anchor="t"/>
          <a:lstStyle/>
          <a:p>
            <a:pPr marL="0" indent="0">
              <a:buNone/>
            </a:pPr>
            <a:r>
              <a:rPr lang="en-US" sz="1600" b="1" dirty="0">
                <a:solidFill>
                  <a:srgbClr val="D96C8C"/>
                </a:solidFill>
                <a:latin typeface="Cambria" pitchFamily="34" charset="0"/>
                <a:ea typeface="Cambria" pitchFamily="34" charset="-122"/>
                <a:cs typeface="Cambria" pitchFamily="34" charset="-120"/>
              </a:rPr>
              <a:t>Style quiz</a:t>
            </a:r>
            <a:endParaRPr lang="en-US" sz="1600" dirty="0"/>
          </a:p>
        </p:txBody>
      </p:sp>
      <p:sp>
        <p:nvSpPr>
          <p:cNvPr id="12" name="Text 9"/>
          <p:cNvSpPr txBox="1"/>
          <p:nvPr/>
        </p:nvSpPr>
        <p:spPr>
          <a:xfrm>
            <a:off x="6309360" y="1920240"/>
            <a:ext cx="2286000" cy="77724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5 questions, 3 personas</a:t>
            </a:r>
            <a:endParaRPr lang="en-US" sz="1400" dirty="0"/>
          </a:p>
        </p:txBody>
      </p:sp>
      <p:sp>
        <p:nvSpPr>
          <p:cNvPr id="13" name="Shape 10"/>
          <p:cNvSpPr/>
          <p:nvPr/>
        </p:nvSpPr>
        <p:spPr>
          <a:xfrm>
            <a:off x="457200" y="2971800"/>
            <a:ext cx="2651760" cy="1554480"/>
          </a:xfrm>
          <a:prstGeom prst="roundRect">
            <a:avLst>
              <a:gd name="adj" fmla="val 7059"/>
            </a:avLst>
          </a:prstGeom>
          <a:solidFill>
            <a:srgbClr val="1C1F26"/>
          </a:solidFill>
          <a:ln w="12700">
            <a:solidFill>
              <a:srgbClr val="1C1F26"/>
            </a:solidFill>
            <a:prstDash val="solid"/>
          </a:ln>
        </p:spPr>
      </p:sp>
      <p:sp>
        <p:nvSpPr>
          <p:cNvPr id="14" name="Text 11"/>
          <p:cNvSpPr txBox="1"/>
          <p:nvPr/>
        </p:nvSpPr>
        <p:spPr>
          <a:xfrm>
            <a:off x="640080" y="3108960"/>
            <a:ext cx="2286000" cy="457200"/>
          </a:xfrm>
          <a:prstGeom prst="rect">
            <a:avLst/>
          </a:prstGeom>
          <a:noFill/>
          <a:ln/>
        </p:spPr>
        <p:txBody>
          <a:bodyPr wrap="square" lIns="0" tIns="0" rIns="0" bIns="0" rtlCol="0" anchor="t"/>
          <a:lstStyle/>
          <a:p>
            <a:pPr marL="0" indent="0">
              <a:buNone/>
            </a:pPr>
            <a:r>
              <a:rPr lang="en-US" sz="1600" b="1" dirty="0">
                <a:solidFill>
                  <a:srgbClr val="D96C8C"/>
                </a:solidFill>
                <a:latin typeface="Cambria" pitchFamily="34" charset="0"/>
                <a:ea typeface="Cambria" pitchFamily="34" charset="-122"/>
                <a:cs typeface="Cambria" pitchFamily="34" charset="-120"/>
              </a:rPr>
              <a:t>Mirror Mode</a:t>
            </a:r>
            <a:endParaRPr lang="en-US" sz="1600" dirty="0"/>
          </a:p>
        </p:txBody>
      </p:sp>
      <p:sp>
        <p:nvSpPr>
          <p:cNvPr id="15" name="Text 12"/>
          <p:cNvSpPr txBox="1"/>
          <p:nvPr/>
        </p:nvSpPr>
        <p:spPr>
          <a:xfrm>
            <a:off x="640080" y="3611880"/>
            <a:ext cx="2286000" cy="77724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Camera, outfits and chat on one screen</a:t>
            </a:r>
            <a:endParaRPr lang="en-US" sz="1400" dirty="0"/>
          </a:p>
        </p:txBody>
      </p:sp>
      <p:sp>
        <p:nvSpPr>
          <p:cNvPr id="16" name="Shape 13"/>
          <p:cNvSpPr/>
          <p:nvPr/>
        </p:nvSpPr>
        <p:spPr>
          <a:xfrm>
            <a:off x="3291840" y="2971800"/>
            <a:ext cx="2651760" cy="1554480"/>
          </a:xfrm>
          <a:prstGeom prst="roundRect">
            <a:avLst>
              <a:gd name="adj" fmla="val 7059"/>
            </a:avLst>
          </a:prstGeom>
          <a:solidFill>
            <a:srgbClr val="1C1F26"/>
          </a:solidFill>
          <a:ln w="12700">
            <a:solidFill>
              <a:srgbClr val="1C1F26"/>
            </a:solidFill>
            <a:prstDash val="solid"/>
          </a:ln>
        </p:spPr>
      </p:sp>
      <p:sp>
        <p:nvSpPr>
          <p:cNvPr id="17" name="Text 14"/>
          <p:cNvSpPr txBox="1"/>
          <p:nvPr/>
        </p:nvSpPr>
        <p:spPr>
          <a:xfrm>
            <a:off x="3474720" y="3108960"/>
            <a:ext cx="2286000" cy="457200"/>
          </a:xfrm>
          <a:prstGeom prst="rect">
            <a:avLst/>
          </a:prstGeom>
          <a:noFill/>
          <a:ln/>
        </p:spPr>
        <p:txBody>
          <a:bodyPr wrap="square" lIns="0" tIns="0" rIns="0" bIns="0" rtlCol="0" anchor="t"/>
          <a:lstStyle/>
          <a:p>
            <a:pPr marL="0" indent="0">
              <a:buNone/>
            </a:pPr>
            <a:r>
              <a:rPr lang="en-US" sz="1600" b="1" dirty="0">
                <a:solidFill>
                  <a:srgbClr val="D96C8C"/>
                </a:solidFill>
                <a:latin typeface="Cambria" pitchFamily="34" charset="0"/>
                <a:ea typeface="Cambria" pitchFamily="34" charset="-122"/>
                <a:cs typeface="Cambria" pitchFamily="34" charset="-120"/>
              </a:rPr>
              <a:t>Dashboard</a:t>
            </a:r>
            <a:endParaRPr lang="en-US" sz="1600" dirty="0"/>
          </a:p>
        </p:txBody>
      </p:sp>
      <p:sp>
        <p:nvSpPr>
          <p:cNvPr id="18" name="Text 15"/>
          <p:cNvSpPr txBox="1"/>
          <p:nvPr/>
        </p:nvSpPr>
        <p:spPr>
          <a:xfrm>
            <a:off x="3474720" y="3611880"/>
            <a:ext cx="2286000" cy="77724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Usage charts and counters</a:t>
            </a:r>
            <a:endParaRPr lang="en-US" sz="1400" dirty="0"/>
          </a:p>
        </p:txBody>
      </p:sp>
      <p:sp>
        <p:nvSpPr>
          <p:cNvPr id="19" name="Shape 16"/>
          <p:cNvSpPr/>
          <p:nvPr/>
        </p:nvSpPr>
        <p:spPr>
          <a:xfrm>
            <a:off x="6126480" y="2971800"/>
            <a:ext cx="2651760" cy="1554480"/>
          </a:xfrm>
          <a:prstGeom prst="roundRect">
            <a:avLst>
              <a:gd name="adj" fmla="val 7059"/>
            </a:avLst>
          </a:prstGeom>
          <a:solidFill>
            <a:srgbClr val="1C1F26"/>
          </a:solidFill>
          <a:ln w="12700">
            <a:solidFill>
              <a:srgbClr val="1C1F26"/>
            </a:solidFill>
            <a:prstDash val="solid"/>
          </a:ln>
        </p:spPr>
      </p:sp>
      <p:sp>
        <p:nvSpPr>
          <p:cNvPr id="20" name="Text 17"/>
          <p:cNvSpPr txBox="1"/>
          <p:nvPr/>
        </p:nvSpPr>
        <p:spPr>
          <a:xfrm>
            <a:off x="6309360" y="3108960"/>
            <a:ext cx="2286000" cy="457200"/>
          </a:xfrm>
          <a:prstGeom prst="rect">
            <a:avLst/>
          </a:prstGeom>
          <a:noFill/>
          <a:ln/>
        </p:spPr>
        <p:txBody>
          <a:bodyPr wrap="square" lIns="0" tIns="0" rIns="0" bIns="0" rtlCol="0" anchor="t"/>
          <a:lstStyle/>
          <a:p>
            <a:pPr marL="0" indent="0">
              <a:buNone/>
            </a:pPr>
            <a:r>
              <a:rPr lang="en-US" sz="1600" b="1" dirty="0">
                <a:solidFill>
                  <a:srgbClr val="D96C8C"/>
                </a:solidFill>
                <a:latin typeface="Cambria" pitchFamily="34" charset="0"/>
                <a:ea typeface="Cambria" pitchFamily="34" charset="-122"/>
                <a:cs typeface="Cambria" pitchFamily="34" charset="-120"/>
              </a:rPr>
              <a:t>Style report</a:t>
            </a:r>
            <a:endParaRPr lang="en-US" sz="1600" dirty="0"/>
          </a:p>
        </p:txBody>
      </p:sp>
      <p:sp>
        <p:nvSpPr>
          <p:cNvPr id="21" name="Text 18"/>
          <p:cNvSpPr txBox="1"/>
          <p:nvPr/>
        </p:nvSpPr>
        <p:spPr>
          <a:xfrm>
            <a:off x="6309360" y="3611880"/>
            <a:ext cx="2286000" cy="777240"/>
          </a:xfrm>
          <a:prstGeom prst="rect">
            <a:avLst/>
          </a:prstGeom>
          <a:noFill/>
          <a:ln/>
        </p:spPr>
        <p:txBody>
          <a:bodyPr wrap="square" lIns="0" tIns="0" rIns="0" bIns="0" rtlCol="0" anchor="t"/>
          <a:lstStyle/>
          <a:p>
            <a:pPr marL="0" indent="0">
              <a:buNone/>
            </a:pPr>
            <a:r>
              <a:rPr lang="en-US" sz="1400" dirty="0">
                <a:solidFill>
                  <a:srgbClr val="F3E9EC"/>
                </a:solidFill>
                <a:latin typeface="Calibri" pitchFamily="34" charset="0"/>
                <a:ea typeface="Calibri" pitchFamily="34" charset="-122"/>
                <a:cs typeface="Calibri" pitchFamily="34" charset="-120"/>
              </a:rPr>
              <a:t>Downloadable HTML summary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7"/>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FFD1DC"/>
                </a:solidFill>
                <a:latin typeface="Cambria" pitchFamily="34" charset="0"/>
                <a:ea typeface="Cambria" pitchFamily="34" charset="-122"/>
                <a:cs typeface="Cambria" pitchFamily="34" charset="-120"/>
              </a:rPr>
              <a:t>Tech stack and why</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Technology</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D96C8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Used for</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D96C8C"/>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Python 3.11</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Whole project, strong AI/ML ecosystem</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Streamlit</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Web interface in pure Python</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OpenCV</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Face detection, color spaces, blending</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extLst>
                  <a:ext uri="{0D108BD9-81ED-4DB2-BD59-A6C34878D82A}">
                    <a16:rowId xmlns:a16="http://schemas.microsoft.com/office/drawing/2014/main" val="10003"/>
                  </a:ext>
                </a:extLst>
              </a:tr>
              <a:tr h="457200">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scikit-learn</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K-Means dominant colors</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extLst>
                  <a:ext uri="{0D108BD9-81ED-4DB2-BD59-A6C34878D82A}">
                    <a16:rowId xmlns:a16="http://schemas.microsoft.com/office/drawing/2014/main" val="10004"/>
                  </a:ext>
                </a:extLst>
              </a:tr>
              <a:tr h="457200">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Groq API</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AI stylist chatbot</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extLst>
                  <a:ext uri="{0D108BD9-81ED-4DB2-BD59-A6C34878D82A}">
                    <a16:rowId xmlns:a16="http://schemas.microsoft.com/office/drawing/2014/main" val="10005"/>
                  </a:ext>
                </a:extLst>
              </a:tr>
              <a:tr h="457200">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pytest</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tc>
                  <a:txBody>
                    <a:bodyPr/>
                    <a:lstStyle/>
                    <a:p>
                      <a:pPr marL="0" indent="0">
                        <a:buNone/>
                      </a:pPr>
                      <a:r>
                        <a:rPr lang="en-US" sz="1400" dirty="0">
                          <a:solidFill>
                            <a:srgbClr val="F3E9EC"/>
                          </a:solidFill>
                          <a:latin typeface="Calibri" pitchFamily="34" charset="0"/>
                          <a:ea typeface="Calibri" pitchFamily="34" charset="-122"/>
                          <a:cs typeface="Calibri" pitchFamily="34" charset="-120"/>
                        </a:rPr>
                        <a:t>Automated unit tests</a:t>
                      </a:r>
                      <a:endParaRPr lang="en-US" sz="1400" dirty="0">
                        <a:latin typeface="Calibri" charset="0"/>
                        <a:ea typeface="Calibri" charset="0"/>
                        <a:cs typeface="Calibri" charset="0"/>
                      </a:endParaRPr>
                    </a:p>
                  </a:txBody>
                  <a:tcPr anchor="ctr">
                    <a:lnL w="12700" cap="flat" cmpd="sng" algn="ctr">
                      <a:solidFill>
                        <a:srgbClr val="0E1117"/>
                      </a:solidFill>
                      <a:prstDash val="solid"/>
                      <a:round/>
                      <a:headEnd type="none" w="med" len="med"/>
                      <a:tailEnd type="none" w="med" len="med"/>
                    </a:lnL>
                    <a:lnR w="12700" cap="flat" cmpd="sng" algn="ctr">
                      <a:solidFill>
                        <a:srgbClr val="0E1117"/>
                      </a:solidFill>
                      <a:prstDash val="solid"/>
                      <a:round/>
                      <a:headEnd type="none" w="med" len="med"/>
                      <a:tailEnd type="none" w="med" len="med"/>
                    </a:lnR>
                    <a:lnT w="12700" cap="flat" cmpd="sng" algn="ctr">
                      <a:solidFill>
                        <a:srgbClr val="0E1117"/>
                      </a:solidFill>
                      <a:prstDash val="solid"/>
                      <a:round/>
                      <a:headEnd type="none" w="med" len="med"/>
                      <a:tailEnd type="none" w="med" len="med"/>
                    </a:lnT>
                    <a:lnB w="12700" cap="flat" cmpd="sng" algn="ctr">
                      <a:solidFill>
                        <a:srgbClr val="0E1117"/>
                      </a:solidFill>
                      <a:prstDash val="solid"/>
                      <a:round/>
                      <a:headEnd type="none" w="med" len="med"/>
                      <a:tailEnd type="none" w="med" len="med"/>
                    </a:lnB>
                    <a:solidFill>
                      <a:srgbClr val="1C1F2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7"/>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FFD1DC"/>
                </a:solidFill>
                <a:latin typeface="Cambria" pitchFamily="34" charset="0"/>
                <a:ea typeface="Cambria" pitchFamily="34" charset="-122"/>
                <a:cs typeface="Cambria" pitchFamily="34" charset="-120"/>
              </a:rPr>
              <a:t>Testing and quality</a:t>
            </a:r>
            <a:endParaRPr lang="en-US" sz="3400" dirty="0"/>
          </a:p>
        </p:txBody>
      </p:sp>
      <p:sp>
        <p:nvSpPr>
          <p:cNvPr id="4" name="Shape 1"/>
          <p:cNvSpPr/>
          <p:nvPr/>
        </p:nvSpPr>
        <p:spPr>
          <a:xfrm>
            <a:off x="457200" y="1280160"/>
            <a:ext cx="2651760" cy="2011680"/>
          </a:xfrm>
          <a:prstGeom prst="roundRect">
            <a:avLst>
              <a:gd name="adj" fmla="val 5455"/>
            </a:avLst>
          </a:prstGeom>
          <a:solidFill>
            <a:srgbClr val="1C1F26"/>
          </a:solidFill>
          <a:ln w="12700">
            <a:solidFill>
              <a:srgbClr val="1C1F26"/>
            </a:solidFill>
            <a:prstDash val="solid"/>
          </a:ln>
        </p:spPr>
      </p:sp>
      <p:sp>
        <p:nvSpPr>
          <p:cNvPr id="5" name="Text 2"/>
          <p:cNvSpPr txBox="1"/>
          <p:nvPr/>
        </p:nvSpPr>
        <p:spPr>
          <a:xfrm>
            <a:off x="457200" y="1417320"/>
            <a:ext cx="2651760" cy="1097280"/>
          </a:xfrm>
          <a:prstGeom prst="rect">
            <a:avLst/>
          </a:prstGeom>
          <a:noFill/>
          <a:ln/>
        </p:spPr>
        <p:txBody>
          <a:bodyPr wrap="square" lIns="0" tIns="0" rIns="0" bIns="0" rtlCol="0" anchor="ctr"/>
          <a:lstStyle/>
          <a:p>
            <a:pPr marL="0" indent="0" algn="ctr">
              <a:buNone/>
            </a:pPr>
            <a:r>
              <a:rPr lang="en-US" sz="6000" b="1" dirty="0">
                <a:solidFill>
                  <a:srgbClr val="D96C8C"/>
                </a:solidFill>
                <a:latin typeface="Cambria" pitchFamily="34" charset="0"/>
                <a:ea typeface="Cambria" pitchFamily="34" charset="-122"/>
                <a:cs typeface="Cambria" pitchFamily="34" charset="-120"/>
              </a:rPr>
              <a:t>14</a:t>
            </a:r>
            <a:endParaRPr lang="en-US" sz="6000" dirty="0"/>
          </a:p>
        </p:txBody>
      </p:sp>
      <p:sp>
        <p:nvSpPr>
          <p:cNvPr id="6" name="Text 3"/>
          <p:cNvSpPr txBox="1"/>
          <p:nvPr/>
        </p:nvSpPr>
        <p:spPr>
          <a:xfrm>
            <a:off x="457200" y="2560320"/>
            <a:ext cx="2651760" cy="548640"/>
          </a:xfrm>
          <a:prstGeom prst="rect">
            <a:avLst/>
          </a:prstGeom>
          <a:noFill/>
          <a:ln/>
        </p:spPr>
        <p:txBody>
          <a:bodyPr wrap="square" lIns="0" tIns="0" rIns="0" bIns="0" rtlCol="0" anchor="ctr"/>
          <a:lstStyle/>
          <a:p>
            <a:pPr marL="0" indent="0" algn="ctr">
              <a:buNone/>
            </a:pPr>
            <a:r>
              <a:rPr lang="en-US" sz="1600" dirty="0">
                <a:solidFill>
                  <a:srgbClr val="F3E9EC"/>
                </a:solidFill>
              </a:rPr>
              <a:t>pytest tests, all passing</a:t>
            </a:r>
            <a:endParaRPr lang="en-US" sz="1600" dirty="0"/>
          </a:p>
        </p:txBody>
      </p:sp>
      <p:sp>
        <p:nvSpPr>
          <p:cNvPr id="7" name="Shape 4"/>
          <p:cNvSpPr/>
          <p:nvPr/>
        </p:nvSpPr>
        <p:spPr>
          <a:xfrm>
            <a:off x="3291840" y="1280160"/>
            <a:ext cx="2651760" cy="2011680"/>
          </a:xfrm>
          <a:prstGeom prst="roundRect">
            <a:avLst>
              <a:gd name="adj" fmla="val 5455"/>
            </a:avLst>
          </a:prstGeom>
          <a:solidFill>
            <a:srgbClr val="1C1F26"/>
          </a:solidFill>
          <a:ln w="12700">
            <a:solidFill>
              <a:srgbClr val="1C1F26"/>
            </a:solidFill>
            <a:prstDash val="solid"/>
          </a:ln>
        </p:spPr>
      </p:sp>
      <p:sp>
        <p:nvSpPr>
          <p:cNvPr id="8" name="Text 5"/>
          <p:cNvSpPr txBox="1"/>
          <p:nvPr/>
        </p:nvSpPr>
        <p:spPr>
          <a:xfrm>
            <a:off x="3291840" y="1417320"/>
            <a:ext cx="2651760" cy="1097280"/>
          </a:xfrm>
          <a:prstGeom prst="rect">
            <a:avLst/>
          </a:prstGeom>
          <a:noFill/>
          <a:ln/>
        </p:spPr>
        <p:txBody>
          <a:bodyPr wrap="square" lIns="0" tIns="0" rIns="0" bIns="0" rtlCol="0" anchor="ctr"/>
          <a:lstStyle/>
          <a:p>
            <a:pPr marL="0" indent="0" algn="ctr">
              <a:buNone/>
            </a:pPr>
            <a:r>
              <a:rPr lang="en-US" sz="6000" b="1" dirty="0">
                <a:solidFill>
                  <a:srgbClr val="D96C8C"/>
                </a:solidFill>
                <a:latin typeface="Cambria" pitchFamily="34" charset="0"/>
                <a:ea typeface="Cambria" pitchFamily="34" charset="-122"/>
                <a:cs typeface="Cambria" pitchFamily="34" charset="-120"/>
              </a:rPr>
              <a:t>13</a:t>
            </a:r>
            <a:endParaRPr lang="en-US" sz="6000" dirty="0"/>
          </a:p>
        </p:txBody>
      </p:sp>
      <p:sp>
        <p:nvSpPr>
          <p:cNvPr id="9" name="Text 6"/>
          <p:cNvSpPr txBox="1"/>
          <p:nvPr/>
        </p:nvSpPr>
        <p:spPr>
          <a:xfrm>
            <a:off x="3291840" y="2560320"/>
            <a:ext cx="2651760" cy="548640"/>
          </a:xfrm>
          <a:prstGeom prst="rect">
            <a:avLst/>
          </a:prstGeom>
          <a:noFill/>
          <a:ln/>
        </p:spPr>
        <p:txBody>
          <a:bodyPr wrap="square" lIns="0" tIns="0" rIns="0" bIns="0" rtlCol="0" anchor="ctr"/>
          <a:lstStyle/>
          <a:p>
            <a:pPr marL="0" indent="0" algn="ctr">
              <a:buNone/>
            </a:pPr>
            <a:r>
              <a:rPr lang="en-US" sz="1600" dirty="0">
                <a:solidFill>
                  <a:srgbClr val="F3E9EC"/>
                </a:solidFill>
              </a:rPr>
              <a:t>screens in the UI audit</a:t>
            </a:r>
            <a:endParaRPr lang="en-US" sz="1600" dirty="0"/>
          </a:p>
        </p:txBody>
      </p:sp>
      <p:sp>
        <p:nvSpPr>
          <p:cNvPr id="10" name="Shape 7"/>
          <p:cNvSpPr/>
          <p:nvPr/>
        </p:nvSpPr>
        <p:spPr>
          <a:xfrm>
            <a:off x="6126480" y="1280160"/>
            <a:ext cx="2651760" cy="2011680"/>
          </a:xfrm>
          <a:prstGeom prst="roundRect">
            <a:avLst>
              <a:gd name="adj" fmla="val 5455"/>
            </a:avLst>
          </a:prstGeom>
          <a:solidFill>
            <a:srgbClr val="1C1F26"/>
          </a:solidFill>
          <a:ln w="12700">
            <a:solidFill>
              <a:srgbClr val="1C1F26"/>
            </a:solidFill>
            <a:prstDash val="solid"/>
          </a:ln>
        </p:spPr>
      </p:sp>
      <p:sp>
        <p:nvSpPr>
          <p:cNvPr id="11" name="Text 8"/>
          <p:cNvSpPr txBox="1"/>
          <p:nvPr/>
        </p:nvSpPr>
        <p:spPr>
          <a:xfrm>
            <a:off x="6126480" y="1417320"/>
            <a:ext cx="2651760" cy="1097280"/>
          </a:xfrm>
          <a:prstGeom prst="rect">
            <a:avLst/>
          </a:prstGeom>
          <a:noFill/>
          <a:ln/>
        </p:spPr>
        <p:txBody>
          <a:bodyPr wrap="square" lIns="0" tIns="0" rIns="0" bIns="0" rtlCol="0" anchor="ctr"/>
          <a:lstStyle/>
          <a:p>
            <a:pPr marL="0" indent="0" algn="ctr">
              <a:buNone/>
            </a:pPr>
            <a:r>
              <a:rPr lang="en-US" sz="6000" b="1" dirty="0">
                <a:solidFill>
                  <a:srgbClr val="D96C8C"/>
                </a:solidFill>
                <a:latin typeface="Cambria" pitchFamily="34" charset="0"/>
                <a:ea typeface="Cambria" pitchFamily="34" charset="-122"/>
                <a:cs typeface="Cambria" pitchFamily="34" charset="-120"/>
              </a:rPr>
              <a:t>1</a:t>
            </a:r>
            <a:endParaRPr lang="en-US" sz="6000" dirty="0"/>
          </a:p>
        </p:txBody>
      </p:sp>
      <p:sp>
        <p:nvSpPr>
          <p:cNvPr id="12" name="Text 9"/>
          <p:cNvSpPr txBox="1"/>
          <p:nvPr/>
        </p:nvSpPr>
        <p:spPr>
          <a:xfrm>
            <a:off x="6126480" y="2560320"/>
            <a:ext cx="2651760" cy="548640"/>
          </a:xfrm>
          <a:prstGeom prst="rect">
            <a:avLst/>
          </a:prstGeom>
          <a:noFill/>
          <a:ln/>
        </p:spPr>
        <p:txBody>
          <a:bodyPr wrap="square" lIns="0" tIns="0" rIns="0" bIns="0" rtlCol="0" anchor="ctr"/>
          <a:lstStyle/>
          <a:p>
            <a:pPr marL="0" indent="0" algn="ctr">
              <a:buNone/>
            </a:pPr>
            <a:r>
              <a:rPr lang="en-US" sz="1600" dirty="0">
                <a:solidFill>
                  <a:srgbClr val="F3E9EC"/>
                </a:solidFill>
              </a:rPr>
              <a:t>real bug found and fixed</a:t>
            </a:r>
            <a:endParaRPr lang="en-US" sz="1600" dirty="0"/>
          </a:p>
        </p:txBody>
      </p:sp>
      <p:sp>
        <p:nvSpPr>
          <p:cNvPr id="13" name="Text 10"/>
          <p:cNvSpPr txBox="1"/>
          <p:nvPr/>
        </p:nvSpPr>
        <p:spPr>
          <a:xfrm>
            <a:off x="457200" y="3657600"/>
            <a:ext cx="8229600" cy="457200"/>
          </a:xfrm>
          <a:prstGeom prst="rect">
            <a:avLst/>
          </a:prstGeom>
          <a:noFill/>
          <a:ln/>
        </p:spPr>
        <p:txBody>
          <a:bodyPr wrap="square" lIns="0" tIns="0" rIns="0" bIns="0" rtlCol="0" anchor="ctr"/>
          <a:lstStyle/>
          <a:p>
            <a:pPr marL="0" indent="0">
              <a:buNone/>
            </a:pPr>
            <a:r>
              <a:rPr lang="en-US" sz="1600" dirty="0">
                <a:solidFill>
                  <a:srgbClr val="FFD1DC"/>
                </a:solidFill>
              </a:rPr>
              <a:t>Plus a manual full-flow test and a custom code audit tool.</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7"/>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FFD1DC"/>
                </a:solidFill>
                <a:latin typeface="Cambria" pitchFamily="34" charset="0"/>
                <a:ea typeface="Cambria" pitchFamily="34" charset="-122"/>
                <a:cs typeface="Cambria" pitchFamily="34" charset="-120"/>
              </a:rPr>
              <a:t>Limitations and future scope</a:t>
            </a:r>
            <a:endParaRPr lang="en-US" sz="3400" dirty="0"/>
          </a:p>
        </p:txBody>
      </p:sp>
      <p:sp>
        <p:nvSpPr>
          <p:cNvPr id="4" name="Shape 1"/>
          <p:cNvSpPr/>
          <p:nvPr/>
        </p:nvSpPr>
        <p:spPr>
          <a:xfrm>
            <a:off x="457200" y="1280160"/>
            <a:ext cx="3931920" cy="3383280"/>
          </a:xfrm>
          <a:prstGeom prst="roundRect">
            <a:avLst>
              <a:gd name="adj" fmla="val 3243"/>
            </a:avLst>
          </a:prstGeom>
          <a:solidFill>
            <a:srgbClr val="1C1F26"/>
          </a:solidFill>
          <a:ln w="12700">
            <a:solidFill>
              <a:srgbClr val="1C1F26"/>
            </a:solidFill>
            <a:prstDash val="solid"/>
          </a:ln>
        </p:spPr>
      </p:sp>
      <p:sp>
        <p:nvSpPr>
          <p:cNvPr id="5" name="Text 2"/>
          <p:cNvSpPr txBox="1"/>
          <p:nvPr/>
        </p:nvSpPr>
        <p:spPr>
          <a:xfrm>
            <a:off x="640080" y="1417320"/>
            <a:ext cx="356616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Limitations</a:t>
            </a:r>
            <a:endParaRPr lang="en-US" sz="1800" dirty="0"/>
          </a:p>
        </p:txBody>
      </p:sp>
      <p:sp>
        <p:nvSpPr>
          <p:cNvPr id="6" name="Text 3"/>
          <p:cNvSpPr txBox="1"/>
          <p:nvPr/>
        </p:nvSpPr>
        <p:spPr>
          <a:xfrm>
            <a:off x="640080" y="1920240"/>
            <a:ext cx="356616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Sensitive to lighting and filters</a:t>
            </a:r>
            <a:endParaRPr lang="en-US" sz="1400" dirty="0"/>
          </a:p>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Small synthetic outfit database</a:t>
            </a:r>
            <a:endParaRPr lang="en-US" sz="1400" dirty="0"/>
          </a:p>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Accuracy not yet benchmarked</a:t>
            </a:r>
            <a:endParaRPr lang="en-US" sz="1400" dirty="0"/>
          </a:p>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Basic flat-color try-on</a:t>
            </a:r>
            <a:endParaRPr lang="en-US" sz="1400" dirty="0"/>
          </a:p>
        </p:txBody>
      </p:sp>
      <p:sp>
        <p:nvSpPr>
          <p:cNvPr id="7" name="Shape 4"/>
          <p:cNvSpPr/>
          <p:nvPr/>
        </p:nvSpPr>
        <p:spPr>
          <a:xfrm>
            <a:off x="4754880" y="1280160"/>
            <a:ext cx="3931920" cy="3383280"/>
          </a:xfrm>
          <a:prstGeom prst="roundRect">
            <a:avLst>
              <a:gd name="adj" fmla="val 3243"/>
            </a:avLst>
          </a:prstGeom>
          <a:solidFill>
            <a:srgbClr val="1C1F26"/>
          </a:solidFill>
          <a:ln w="12700">
            <a:solidFill>
              <a:srgbClr val="1C1F26"/>
            </a:solidFill>
            <a:prstDash val="solid"/>
          </a:ln>
        </p:spPr>
      </p:sp>
      <p:sp>
        <p:nvSpPr>
          <p:cNvPr id="8" name="Text 5"/>
          <p:cNvSpPr txBox="1"/>
          <p:nvPr/>
        </p:nvSpPr>
        <p:spPr>
          <a:xfrm>
            <a:off x="4937760" y="1417320"/>
            <a:ext cx="3566160" cy="457200"/>
          </a:xfrm>
          <a:prstGeom prst="rect">
            <a:avLst/>
          </a:prstGeom>
          <a:noFill/>
          <a:ln/>
        </p:spPr>
        <p:txBody>
          <a:bodyPr wrap="square" lIns="0" tIns="0" rIns="0" bIns="0" rtlCol="0" anchor="t"/>
          <a:lstStyle/>
          <a:p>
            <a:pPr marL="0" indent="0">
              <a:buNone/>
            </a:pPr>
            <a:r>
              <a:rPr lang="en-US" sz="1800" b="1" dirty="0">
                <a:solidFill>
                  <a:srgbClr val="D96C8C"/>
                </a:solidFill>
                <a:latin typeface="Cambria" pitchFamily="34" charset="0"/>
                <a:ea typeface="Cambria" pitchFamily="34" charset="-122"/>
                <a:cs typeface="Cambria" pitchFamily="34" charset="-120"/>
              </a:rPr>
              <a:t>Future scope</a:t>
            </a:r>
            <a:endParaRPr lang="en-US" sz="1800" dirty="0"/>
          </a:p>
        </p:txBody>
      </p:sp>
      <p:sp>
        <p:nvSpPr>
          <p:cNvPr id="9" name="Text 6"/>
          <p:cNvSpPr txBox="1"/>
          <p:nvPr/>
        </p:nvSpPr>
        <p:spPr>
          <a:xfrm>
            <a:off x="4937760" y="1920240"/>
            <a:ext cx="356616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Better, fairness-checked skin model</a:t>
            </a:r>
            <a:endParaRPr lang="en-US" sz="1400" dirty="0"/>
          </a:p>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MediaPipe pose and clothing segmentation</a:t>
            </a:r>
            <a:endParaRPr lang="en-US" sz="1400" dirty="0"/>
          </a:p>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Live video and real product catalog</a:t>
            </a:r>
            <a:endParaRPr lang="en-US" sz="1400" dirty="0"/>
          </a:p>
          <a:p>
            <a:pPr marL="342900" indent="-342900">
              <a:spcAft>
                <a:spcPts val="600"/>
              </a:spcAft>
              <a:buSzPct val="100000"/>
              <a:buChar char="•"/>
            </a:pPr>
            <a:r>
              <a:rPr lang="en-US" sz="1400" dirty="0">
                <a:solidFill>
                  <a:srgbClr val="F3E9EC"/>
                </a:solidFill>
                <a:latin typeface="Calibri" pitchFamily="34" charset="0"/>
                <a:ea typeface="Calibri" pitchFamily="34" charset="-122"/>
                <a:cs typeface="Calibri" pitchFamily="34" charset="-120"/>
              </a:rPr>
              <a:t>User accounts with a database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7"/>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rgbClr val="FFD1DC"/>
                </a:solidFill>
                <a:latin typeface="Cambria" pitchFamily="34" charset="0"/>
                <a:ea typeface="Cambria" pitchFamily="34" charset="-122"/>
                <a:cs typeface="Cambria" pitchFamily="34" charset="-120"/>
              </a:rPr>
              <a:t>Live demo</a:t>
            </a:r>
            <a:endParaRPr lang="en-US" sz="3400" dirty="0"/>
          </a:p>
        </p:txBody>
      </p:sp>
      <p:sp>
        <p:nvSpPr>
          <p:cNvPr id="4" name="Shape 1"/>
          <p:cNvSpPr/>
          <p:nvPr/>
        </p:nvSpPr>
        <p:spPr>
          <a:xfrm>
            <a:off x="457200" y="1280160"/>
            <a:ext cx="2651760" cy="1005840"/>
          </a:xfrm>
          <a:prstGeom prst="roundRect">
            <a:avLst>
              <a:gd name="adj" fmla="val 10909"/>
            </a:avLst>
          </a:prstGeom>
          <a:solidFill>
            <a:srgbClr val="1C1F26"/>
          </a:solidFill>
          <a:ln w="19050">
            <a:solidFill>
              <a:srgbClr val="D96C8C"/>
            </a:solidFill>
            <a:prstDash val="solid"/>
          </a:ln>
        </p:spPr>
      </p:sp>
      <p:sp>
        <p:nvSpPr>
          <p:cNvPr id="5" name="Text 2"/>
          <p:cNvSpPr txBox="1"/>
          <p:nvPr/>
        </p:nvSpPr>
        <p:spPr>
          <a:xfrm>
            <a:off x="457200" y="1280160"/>
            <a:ext cx="2651760" cy="1005840"/>
          </a:xfrm>
          <a:prstGeom prst="rect">
            <a:avLst/>
          </a:prstGeom>
          <a:noFill/>
          <a:ln/>
        </p:spPr>
        <p:txBody>
          <a:bodyPr wrap="square" lIns="0" tIns="0" rIns="0" bIns="0" rtlCol="0" anchor="ctr"/>
          <a:lstStyle/>
          <a:p>
            <a:pPr marL="0" indent="0" algn="ctr">
              <a:buNone/>
            </a:pPr>
            <a:r>
              <a:rPr lang="en-US" sz="1800" b="1" dirty="0">
                <a:solidFill>
                  <a:srgbClr val="FFD1DC"/>
                </a:solidFill>
              </a:rPr>
              <a:t>1. Style quiz</a:t>
            </a:r>
            <a:endParaRPr lang="en-US" sz="1800" dirty="0"/>
          </a:p>
        </p:txBody>
      </p:sp>
      <p:sp>
        <p:nvSpPr>
          <p:cNvPr id="6" name="Shape 3"/>
          <p:cNvSpPr/>
          <p:nvPr/>
        </p:nvSpPr>
        <p:spPr>
          <a:xfrm>
            <a:off x="3291840" y="1280160"/>
            <a:ext cx="2651760" cy="1005840"/>
          </a:xfrm>
          <a:prstGeom prst="roundRect">
            <a:avLst>
              <a:gd name="adj" fmla="val 10909"/>
            </a:avLst>
          </a:prstGeom>
          <a:solidFill>
            <a:srgbClr val="1C1F26"/>
          </a:solidFill>
          <a:ln w="19050">
            <a:solidFill>
              <a:srgbClr val="D96C8C"/>
            </a:solidFill>
            <a:prstDash val="solid"/>
          </a:ln>
        </p:spPr>
      </p:sp>
      <p:sp>
        <p:nvSpPr>
          <p:cNvPr id="7" name="Text 4"/>
          <p:cNvSpPr txBox="1"/>
          <p:nvPr/>
        </p:nvSpPr>
        <p:spPr>
          <a:xfrm>
            <a:off x="3291840" y="1280160"/>
            <a:ext cx="2651760" cy="1005840"/>
          </a:xfrm>
          <a:prstGeom prst="rect">
            <a:avLst/>
          </a:prstGeom>
          <a:noFill/>
          <a:ln/>
        </p:spPr>
        <p:txBody>
          <a:bodyPr wrap="square" lIns="0" tIns="0" rIns="0" bIns="0" rtlCol="0" anchor="ctr"/>
          <a:lstStyle/>
          <a:p>
            <a:pPr marL="0" indent="0" algn="ctr">
              <a:buNone/>
            </a:pPr>
            <a:r>
              <a:rPr lang="en-US" sz="1800" b="1" dirty="0">
                <a:solidFill>
                  <a:srgbClr val="FFD1DC"/>
                </a:solidFill>
              </a:rPr>
              <a:t>2. Analyze my look</a:t>
            </a:r>
            <a:endParaRPr lang="en-US" sz="1800" dirty="0"/>
          </a:p>
        </p:txBody>
      </p:sp>
      <p:sp>
        <p:nvSpPr>
          <p:cNvPr id="8" name="Shape 5"/>
          <p:cNvSpPr/>
          <p:nvPr/>
        </p:nvSpPr>
        <p:spPr>
          <a:xfrm>
            <a:off x="6126480" y="1280160"/>
            <a:ext cx="2651760" cy="1005840"/>
          </a:xfrm>
          <a:prstGeom prst="roundRect">
            <a:avLst>
              <a:gd name="adj" fmla="val 10909"/>
            </a:avLst>
          </a:prstGeom>
          <a:solidFill>
            <a:srgbClr val="1C1F26"/>
          </a:solidFill>
          <a:ln w="19050">
            <a:solidFill>
              <a:srgbClr val="D96C8C"/>
            </a:solidFill>
            <a:prstDash val="solid"/>
          </a:ln>
        </p:spPr>
      </p:sp>
      <p:sp>
        <p:nvSpPr>
          <p:cNvPr id="9" name="Text 6"/>
          <p:cNvSpPr txBox="1"/>
          <p:nvPr/>
        </p:nvSpPr>
        <p:spPr>
          <a:xfrm>
            <a:off x="6126480" y="1280160"/>
            <a:ext cx="2651760" cy="1005840"/>
          </a:xfrm>
          <a:prstGeom prst="rect">
            <a:avLst/>
          </a:prstGeom>
          <a:noFill/>
          <a:ln/>
        </p:spPr>
        <p:txBody>
          <a:bodyPr wrap="square" lIns="0" tIns="0" rIns="0" bIns="0" rtlCol="0" anchor="ctr"/>
          <a:lstStyle/>
          <a:p>
            <a:pPr marL="0" indent="0" algn="ctr">
              <a:buNone/>
            </a:pPr>
            <a:r>
              <a:rPr lang="en-US" sz="1800" b="1" dirty="0">
                <a:solidFill>
                  <a:srgbClr val="FFD1DC"/>
                </a:solidFill>
              </a:rPr>
              <a:t>3. Recommendations</a:t>
            </a:r>
            <a:endParaRPr lang="en-US" sz="1800" dirty="0"/>
          </a:p>
        </p:txBody>
      </p:sp>
      <p:sp>
        <p:nvSpPr>
          <p:cNvPr id="10" name="Shape 7"/>
          <p:cNvSpPr/>
          <p:nvPr/>
        </p:nvSpPr>
        <p:spPr>
          <a:xfrm>
            <a:off x="457200" y="2468880"/>
            <a:ext cx="2651760" cy="1005840"/>
          </a:xfrm>
          <a:prstGeom prst="roundRect">
            <a:avLst>
              <a:gd name="adj" fmla="val 10909"/>
            </a:avLst>
          </a:prstGeom>
          <a:solidFill>
            <a:srgbClr val="1C1F26"/>
          </a:solidFill>
          <a:ln w="19050">
            <a:solidFill>
              <a:srgbClr val="D96C8C"/>
            </a:solidFill>
            <a:prstDash val="solid"/>
          </a:ln>
        </p:spPr>
      </p:sp>
      <p:sp>
        <p:nvSpPr>
          <p:cNvPr id="11" name="Text 8"/>
          <p:cNvSpPr txBox="1"/>
          <p:nvPr/>
        </p:nvSpPr>
        <p:spPr>
          <a:xfrm>
            <a:off x="457200" y="2468880"/>
            <a:ext cx="2651760" cy="1005840"/>
          </a:xfrm>
          <a:prstGeom prst="rect">
            <a:avLst/>
          </a:prstGeom>
          <a:noFill/>
          <a:ln/>
        </p:spPr>
        <p:txBody>
          <a:bodyPr wrap="square" lIns="0" tIns="0" rIns="0" bIns="0" rtlCol="0" anchor="ctr"/>
          <a:lstStyle/>
          <a:p>
            <a:pPr marL="0" indent="0" algn="ctr">
              <a:buNone/>
            </a:pPr>
            <a:r>
              <a:rPr lang="en-US" sz="1800" b="1" dirty="0">
                <a:solidFill>
                  <a:srgbClr val="FFD1DC"/>
                </a:solidFill>
              </a:rPr>
              <a:t>4. Virtual try-on</a:t>
            </a:r>
            <a:endParaRPr lang="en-US" sz="1800" dirty="0"/>
          </a:p>
        </p:txBody>
      </p:sp>
      <p:sp>
        <p:nvSpPr>
          <p:cNvPr id="12" name="Shape 9"/>
          <p:cNvSpPr/>
          <p:nvPr/>
        </p:nvSpPr>
        <p:spPr>
          <a:xfrm>
            <a:off x="3291840" y="2468880"/>
            <a:ext cx="2651760" cy="1005840"/>
          </a:xfrm>
          <a:prstGeom prst="roundRect">
            <a:avLst>
              <a:gd name="adj" fmla="val 10909"/>
            </a:avLst>
          </a:prstGeom>
          <a:solidFill>
            <a:srgbClr val="1C1F26"/>
          </a:solidFill>
          <a:ln w="19050">
            <a:solidFill>
              <a:srgbClr val="D96C8C"/>
            </a:solidFill>
            <a:prstDash val="solid"/>
          </a:ln>
        </p:spPr>
      </p:sp>
      <p:sp>
        <p:nvSpPr>
          <p:cNvPr id="13" name="Text 10"/>
          <p:cNvSpPr txBox="1"/>
          <p:nvPr/>
        </p:nvSpPr>
        <p:spPr>
          <a:xfrm>
            <a:off x="3291840" y="2468880"/>
            <a:ext cx="2651760" cy="1005840"/>
          </a:xfrm>
          <a:prstGeom prst="rect">
            <a:avLst/>
          </a:prstGeom>
          <a:noFill/>
          <a:ln/>
        </p:spPr>
        <p:txBody>
          <a:bodyPr wrap="square" lIns="0" tIns="0" rIns="0" bIns="0" rtlCol="0" anchor="ctr"/>
          <a:lstStyle/>
          <a:p>
            <a:pPr marL="0" indent="0" algn="ctr">
              <a:buNone/>
            </a:pPr>
            <a:r>
              <a:rPr lang="en-US" sz="1800" b="1" dirty="0">
                <a:solidFill>
                  <a:srgbClr val="FFD1DC"/>
                </a:solidFill>
              </a:rPr>
              <a:t>5. AI stylist chat</a:t>
            </a:r>
            <a:endParaRPr lang="en-US" sz="1800" dirty="0"/>
          </a:p>
        </p:txBody>
      </p:sp>
      <p:sp>
        <p:nvSpPr>
          <p:cNvPr id="14" name="Shape 11"/>
          <p:cNvSpPr/>
          <p:nvPr/>
        </p:nvSpPr>
        <p:spPr>
          <a:xfrm>
            <a:off x="6126480" y="2468880"/>
            <a:ext cx="2651760" cy="1005840"/>
          </a:xfrm>
          <a:prstGeom prst="roundRect">
            <a:avLst>
              <a:gd name="adj" fmla="val 10909"/>
            </a:avLst>
          </a:prstGeom>
          <a:solidFill>
            <a:srgbClr val="1C1F26"/>
          </a:solidFill>
          <a:ln w="19050">
            <a:solidFill>
              <a:srgbClr val="D96C8C"/>
            </a:solidFill>
            <a:prstDash val="solid"/>
          </a:ln>
        </p:spPr>
      </p:sp>
      <p:sp>
        <p:nvSpPr>
          <p:cNvPr id="15" name="Text 12"/>
          <p:cNvSpPr txBox="1"/>
          <p:nvPr/>
        </p:nvSpPr>
        <p:spPr>
          <a:xfrm>
            <a:off x="6126480" y="2468880"/>
            <a:ext cx="2651760" cy="1005840"/>
          </a:xfrm>
          <a:prstGeom prst="rect">
            <a:avLst/>
          </a:prstGeom>
          <a:noFill/>
          <a:ln/>
        </p:spPr>
        <p:txBody>
          <a:bodyPr wrap="square" lIns="0" tIns="0" rIns="0" bIns="0" rtlCol="0" anchor="ctr"/>
          <a:lstStyle/>
          <a:p>
            <a:pPr marL="0" indent="0" algn="ctr">
              <a:buNone/>
            </a:pPr>
            <a:r>
              <a:rPr lang="en-US" sz="1800" b="1" dirty="0">
                <a:solidFill>
                  <a:srgbClr val="FFD1DC"/>
                </a:solidFill>
              </a:rPr>
              <a:t>6. Dashboard</a:t>
            </a:r>
            <a:endParaRPr lang="en-US" sz="1800" dirty="0"/>
          </a:p>
        </p:txBody>
      </p:sp>
      <p:sp>
        <p:nvSpPr>
          <p:cNvPr id="16" name="Text 13"/>
          <p:cNvSpPr txBox="1"/>
          <p:nvPr/>
        </p:nvSpPr>
        <p:spPr>
          <a:xfrm>
            <a:off x="457200" y="3840480"/>
            <a:ext cx="8229600" cy="457200"/>
          </a:xfrm>
          <a:prstGeom prst="rect">
            <a:avLst/>
          </a:prstGeom>
          <a:noFill/>
          <a:ln/>
        </p:spPr>
        <p:txBody>
          <a:bodyPr wrap="square" lIns="0" tIns="0" rIns="0" bIns="0" rtlCol="0" anchor="ctr"/>
          <a:lstStyle/>
          <a:p>
            <a:pPr marL="0" indent="0">
              <a:buNone/>
            </a:pPr>
            <a:r>
              <a:rPr lang="en-US" sz="2400" b="1" dirty="0">
                <a:solidFill>
                  <a:srgbClr val="D96C8C"/>
                </a:solidFill>
                <a:latin typeface="Cambria" pitchFamily="34" charset="0"/>
                <a:ea typeface="Cambria" pitchFamily="34" charset="-122"/>
                <a:cs typeface="Cambria" pitchFamily="34" charset="-120"/>
              </a:rPr>
              <a:t>Thank you! Questions?</a:t>
            </a:r>
            <a:endParaRPr lang="en-US" sz="2400" dirty="0"/>
          </a:p>
        </p:txBody>
      </p:sp>
      <p:sp>
        <p:nvSpPr>
          <p:cNvPr id="17" name="Text 14"/>
          <p:cNvSpPr txBox="1"/>
          <p:nvPr/>
        </p:nvSpPr>
        <p:spPr>
          <a:xfrm>
            <a:off x="457200" y="4389120"/>
            <a:ext cx="8229600" cy="365760"/>
          </a:xfrm>
          <a:prstGeom prst="rect">
            <a:avLst/>
          </a:prstGeom>
          <a:noFill/>
          <a:ln/>
        </p:spPr>
        <p:txBody>
          <a:bodyPr wrap="square" lIns="0" tIns="0" rIns="0" bIns="0" rtlCol="0" anchor="ctr"/>
          <a:lstStyle/>
          <a:p>
            <a:pPr marL="0" indent="0">
              <a:buNone/>
            </a:pPr>
            <a:r>
              <a:rPr lang="en-US" sz="1400" dirty="0">
                <a:solidFill>
                  <a:srgbClr val="F3E9EC"/>
                </a:solidFill>
              </a:rPr>
              <a:t>github.com/RashiSharma-dev/ai-fashion-stylist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1404</Words>
  <Application>Microsoft Office PowerPoint</Application>
  <PresentationFormat>On-screen Show (16:9)</PresentationFormat>
  <Paragraphs>148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Fashion Color Fit Matcher &amp; Virtual Stylist</dc:title>
  <dc:subject>PptxGenJS Presentation</dc:subject>
  <dc:creator>Rashi Sharma</dc:creator>
  <cp:lastModifiedBy>RASHI SHARMA</cp:lastModifiedBy>
  <cp:revision>4</cp:revision>
  <dcterms:created xsi:type="dcterms:W3CDTF">2026-10-28T06:32:45Z</dcterms:created>
  <dcterms:modified xsi:type="dcterms:W3CDTF">2026-10-31T08:08:00Z</dcterms:modified>
</cp:coreProperties>
</file>